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3" r:id="rId4"/>
    <p:sldId id="271" r:id="rId5"/>
    <p:sldId id="272" r:id="rId6"/>
    <p:sldId id="280" r:id="rId7"/>
    <p:sldId id="281" r:id="rId8"/>
    <p:sldId id="282" r:id="rId9"/>
    <p:sldId id="283" r:id="rId10"/>
    <p:sldId id="273" r:id="rId11"/>
    <p:sldId id="274" r:id="rId12"/>
    <p:sldId id="275" r:id="rId13"/>
    <p:sldId id="276" r:id="rId14"/>
    <p:sldId id="277" r:id="rId15"/>
    <p:sldId id="278" r:id="rId16"/>
    <p:sldId id="279" r:id="rId17"/>
    <p:sldId id="284" r:id="rId18"/>
    <p:sldId id="266" r:id="rId19"/>
  </p:sldIdLst>
  <p:sldSz cx="18288000" cy="10287000"/>
  <p:notesSz cx="6858000" cy="9144000"/>
  <p:embeddedFontLst>
    <p:embeddedFont>
      <p:font typeface="Calibri" pitchFamily="34" charset="0"/>
      <p:regular r:id="rId20"/>
      <p:bold r:id="rId21"/>
      <p:italic r:id="rId22"/>
      <p:boldItalic r:id="rId23"/>
    </p:embeddedFont>
    <p:embeddedFont>
      <p:font typeface="TT Hoves" charset="0"/>
      <p:regular r:id="rId24"/>
    </p:embeddedFont>
    <p:embeddedFont>
      <p:font typeface="TT Hoves Bold" charset="0"/>
      <p:regular r:id="rId25"/>
    </p:embeddedFont>
    <p:embeddedFont>
      <p:font typeface="Horizon"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516" y="-19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p:cNvSpPr txBox="1"/>
          <p:nvPr/>
        </p:nvSpPr>
        <p:spPr>
          <a:xfrm>
            <a:off x="533399" y="3415920"/>
            <a:ext cx="16065995" cy="2718693"/>
          </a:xfrm>
          <a:prstGeom prst="rect">
            <a:avLst/>
          </a:prstGeom>
        </p:spPr>
        <p:txBody>
          <a:bodyPr wrap="square" lIns="0" tIns="0" rIns="0" bIns="0" rtlCol="0" anchor="t">
            <a:spAutoFit/>
          </a:bodyPr>
          <a:lstStyle/>
          <a:p>
            <a:pPr algn="ctr">
              <a:lnSpc>
                <a:spcPts val="10583"/>
              </a:lnSpc>
            </a:pPr>
            <a:r>
              <a:rPr lang="en-US" sz="8800" dirty="0" smtClean="0">
                <a:solidFill>
                  <a:srgbClr val="FFFFFF"/>
                </a:solidFill>
                <a:latin typeface="Horizon"/>
                <a:ea typeface="Horizon"/>
                <a:cs typeface="Horizon"/>
                <a:sym typeface="Horizon"/>
              </a:rPr>
              <a:t>Manufacturing analytics</a:t>
            </a:r>
            <a:endParaRPr lang="en-US" sz="8800" dirty="0">
              <a:solidFill>
                <a:srgbClr val="FFFFFF"/>
              </a:solidFill>
              <a:latin typeface="Horizon"/>
              <a:ea typeface="Horizon"/>
              <a:cs typeface="Horizon"/>
              <a:sym typeface="Horizon"/>
            </a:endParaRPr>
          </a:p>
        </p:txBody>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5" name="TextBox 5"/>
          <p:cNvSpPr txBox="1"/>
          <p:nvPr/>
        </p:nvSpPr>
        <p:spPr>
          <a:xfrm>
            <a:off x="2954709" y="614714"/>
            <a:ext cx="1907082" cy="413986"/>
          </a:xfrm>
          <a:prstGeom prst="rect">
            <a:avLst/>
          </a:prstGeom>
        </p:spPr>
        <p:txBody>
          <a:bodyPr lIns="0" tIns="0" rIns="0" bIns="0" rtlCol="0" anchor="t">
            <a:spAutoFit/>
          </a:bodyPr>
          <a:lstStyle/>
          <a:p>
            <a:pPr marL="0" lvl="0" indent="0" algn="ctr">
              <a:lnSpc>
                <a:spcPts val="3431"/>
              </a:lnSpc>
              <a:spcBef>
                <a:spcPct val="0"/>
              </a:spcBef>
            </a:pPr>
            <a:endParaRPr lang="en-US" sz="2451" b="1" dirty="0">
              <a:solidFill>
                <a:srgbClr val="FFFFFF"/>
              </a:solidFill>
              <a:latin typeface="TT Hoves Bold"/>
              <a:ea typeface="TT Hoves Bold"/>
              <a:cs typeface="TT Hoves Bold"/>
              <a:sym typeface="TT Hoves Bold"/>
            </a:endParaRPr>
          </a:p>
        </p:txBody>
      </p:sp>
      <p:sp>
        <p:nvSpPr>
          <p:cNvPr id="6" name="TextBox 6"/>
          <p:cNvSpPr txBox="1"/>
          <p:nvPr/>
        </p:nvSpPr>
        <p:spPr>
          <a:xfrm>
            <a:off x="5309466" y="614714"/>
            <a:ext cx="1589190" cy="413986"/>
          </a:xfrm>
          <a:prstGeom prst="rect">
            <a:avLst/>
          </a:prstGeom>
        </p:spPr>
        <p:txBody>
          <a:bodyPr lIns="0" tIns="0" rIns="0" bIns="0" rtlCol="0" anchor="t">
            <a:spAutoFit/>
          </a:bodyPr>
          <a:lstStyle/>
          <a:p>
            <a:pPr marL="0" lvl="0" indent="0" algn="ctr">
              <a:lnSpc>
                <a:spcPts val="3431"/>
              </a:lnSpc>
              <a:spcBef>
                <a:spcPct val="0"/>
              </a:spcBef>
            </a:pPr>
            <a:endParaRPr lang="en-US" sz="2451" b="1" dirty="0">
              <a:solidFill>
                <a:srgbClr val="FFFFFF"/>
              </a:solidFill>
              <a:latin typeface="TT Hoves Bold"/>
              <a:ea typeface="TT Hoves Bold"/>
              <a:cs typeface="TT Hoves Bold"/>
              <a:sym typeface="TT Hoves Bold"/>
            </a:endParaRPr>
          </a:p>
        </p:txBody>
      </p:sp>
      <p:sp>
        <p:nvSpPr>
          <p:cNvPr id="7" name="TextBox 7"/>
          <p:cNvSpPr txBox="1"/>
          <p:nvPr/>
        </p:nvSpPr>
        <p:spPr>
          <a:xfrm>
            <a:off x="6537044" y="614714"/>
            <a:ext cx="2224975" cy="413986"/>
          </a:xfrm>
          <a:prstGeom prst="rect">
            <a:avLst/>
          </a:prstGeom>
        </p:spPr>
        <p:txBody>
          <a:bodyPr lIns="0" tIns="0" rIns="0" bIns="0" rtlCol="0" anchor="t">
            <a:spAutoFit/>
          </a:bodyPr>
          <a:lstStyle/>
          <a:p>
            <a:pPr marL="0" lvl="0" indent="0" algn="r">
              <a:lnSpc>
                <a:spcPts val="3431"/>
              </a:lnSpc>
              <a:spcBef>
                <a:spcPct val="0"/>
              </a:spcBef>
            </a:pPr>
            <a:endParaRPr lang="en-US" sz="2451" b="1">
              <a:solidFill>
                <a:srgbClr val="FFFFFF"/>
              </a:solidFill>
              <a:latin typeface="TT Hoves Bold"/>
              <a:ea typeface="TT Hoves Bold"/>
              <a:cs typeface="TT Hoves Bold"/>
              <a:sym typeface="TT Hoves Bold"/>
            </a:endParaRP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Page 01</a:t>
            </a:r>
          </a:p>
        </p:txBody>
      </p:sp>
      <p:sp>
        <p:nvSpPr>
          <p:cNvPr id="10" name="AutoShape 10"/>
          <p:cNvSpPr/>
          <p:nvPr/>
        </p:nvSpPr>
        <p:spPr>
          <a:xfrm>
            <a:off x="0" y="9258300"/>
            <a:ext cx="18288000" cy="0"/>
          </a:xfrm>
          <a:prstGeom prst="line">
            <a:avLst/>
          </a:prstGeom>
          <a:ln w="19050" cap="flat">
            <a:solidFill>
              <a:srgbClr val="FFFFFF"/>
            </a:solidFill>
            <a:prstDash val="solid"/>
            <a:headEnd type="none" w="sm" len="sm"/>
            <a:tailEnd type="none" w="sm" len="sm"/>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TextBox 3"/>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7" name="TextBox 7"/>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Page 02</a:t>
            </a:r>
          </a:p>
        </p:txBody>
      </p:sp>
      <p:sp>
        <p:nvSpPr>
          <p:cNvPr id="8" name="AutoShape 8"/>
          <p:cNvSpPr/>
          <p:nvPr/>
        </p:nvSpPr>
        <p:spPr>
          <a:xfrm>
            <a:off x="0" y="9258300"/>
            <a:ext cx="18288000" cy="0"/>
          </a:xfrm>
          <a:prstGeom prst="line">
            <a:avLst/>
          </a:prstGeom>
          <a:ln w="19050" cap="flat">
            <a:solidFill>
              <a:srgbClr val="FFFFFF"/>
            </a:solidFill>
            <a:prstDash val="solid"/>
            <a:headEnd type="none" w="sm" len="sm"/>
            <a:tailEnd type="none" w="sm" len="sm"/>
          </a:ln>
        </p:spPr>
      </p:sp>
      <p:sp>
        <p:nvSpPr>
          <p:cNvPr id="9" name="TextBox 9"/>
          <p:cNvSpPr txBox="1"/>
          <p:nvPr/>
        </p:nvSpPr>
        <p:spPr>
          <a:xfrm>
            <a:off x="840205" y="821707"/>
            <a:ext cx="7122513" cy="1729741"/>
          </a:xfrm>
          <a:prstGeom prst="rect">
            <a:avLst/>
          </a:prstGeom>
        </p:spPr>
        <p:txBody>
          <a:bodyPr lIns="0" tIns="0" rIns="0" bIns="0" rtlCol="0" anchor="t">
            <a:spAutoFit/>
          </a:bodyPr>
          <a:lstStyle/>
          <a:p>
            <a:pPr algn="l">
              <a:lnSpc>
                <a:spcPts val="6480"/>
              </a:lnSpc>
            </a:pPr>
            <a:r>
              <a:rPr lang="en-US" sz="6000" dirty="0">
                <a:solidFill>
                  <a:srgbClr val="FFFFFF"/>
                </a:solidFill>
                <a:latin typeface="Horizon"/>
                <a:ea typeface="Horizon"/>
                <a:cs typeface="Horizon"/>
                <a:sym typeface="Horizon"/>
              </a:rPr>
              <a:t>Table of Contents</a:t>
            </a:r>
          </a:p>
        </p:txBody>
      </p:sp>
      <p:grpSp>
        <p:nvGrpSpPr>
          <p:cNvPr id="10" name="Group 10"/>
          <p:cNvGrpSpPr/>
          <p:nvPr/>
        </p:nvGrpSpPr>
        <p:grpSpPr>
          <a:xfrm>
            <a:off x="11209875" y="2197547"/>
            <a:ext cx="5705321" cy="5700800"/>
            <a:chOff x="0" y="0"/>
            <a:chExt cx="1502636" cy="1501445"/>
          </a:xfrm>
        </p:grpSpPr>
        <p:sp>
          <p:nvSpPr>
            <p:cNvPr id="11" name="Freeform 11"/>
            <p:cNvSpPr/>
            <p:nvPr/>
          </p:nvSpPr>
          <p:spPr>
            <a:xfrm>
              <a:off x="0" y="0"/>
              <a:ext cx="1502636" cy="1501445"/>
            </a:xfrm>
            <a:custGeom>
              <a:avLst/>
              <a:gdLst/>
              <a:ahLst/>
              <a:cxnLst/>
              <a:rect l="l" t="t" r="r" b="b"/>
              <a:pathLst>
                <a:path w="1502636" h="1501445">
                  <a:moveTo>
                    <a:pt x="0" y="0"/>
                  </a:moveTo>
                  <a:lnTo>
                    <a:pt x="1502636" y="0"/>
                  </a:lnTo>
                  <a:lnTo>
                    <a:pt x="1502636" y="1501445"/>
                  </a:lnTo>
                  <a:lnTo>
                    <a:pt x="0" y="1501445"/>
                  </a:lnTo>
                  <a:close/>
                </a:path>
              </a:pathLst>
            </a:custGeom>
            <a:solidFill>
              <a:srgbClr val="000000">
                <a:alpha val="77647"/>
              </a:srgbClr>
            </a:solidFill>
            <a:ln w="38100" cap="sq">
              <a:solidFill>
                <a:srgbClr val="FFFFFF">
                  <a:alpha val="77647"/>
                </a:srgbClr>
              </a:solidFill>
              <a:prstDash val="solid"/>
              <a:miter/>
            </a:ln>
          </p:spPr>
        </p:sp>
        <p:sp>
          <p:nvSpPr>
            <p:cNvPr id="12" name="TextBox 12"/>
            <p:cNvSpPr txBox="1"/>
            <p:nvPr/>
          </p:nvSpPr>
          <p:spPr>
            <a:xfrm>
              <a:off x="0" y="-38100"/>
              <a:ext cx="1502636" cy="1539545"/>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10285149" y="2754037"/>
            <a:ext cx="5920061" cy="5920061"/>
            <a:chOff x="0" y="0"/>
            <a:chExt cx="812800" cy="812800"/>
          </a:xfrm>
        </p:grpSpPr>
        <p:sp>
          <p:nvSpPr>
            <p:cNvPr id="14" name="Freeform 1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3"/>
              <a:stretch>
                <a:fillRect l="-24906" r="-24906"/>
              </a:stretch>
            </a:blipFill>
          </p:spPr>
        </p:sp>
      </p:grpSp>
      <p:sp>
        <p:nvSpPr>
          <p:cNvPr id="15" name="TextBox 15"/>
          <p:cNvSpPr txBox="1"/>
          <p:nvPr/>
        </p:nvSpPr>
        <p:spPr>
          <a:xfrm>
            <a:off x="957505" y="3009900"/>
            <a:ext cx="7456707" cy="5924699"/>
          </a:xfrm>
          <a:prstGeom prst="rect">
            <a:avLst/>
          </a:prstGeom>
        </p:spPr>
        <p:txBody>
          <a:bodyPr lIns="0" tIns="0" rIns="0" bIns="0" rtlCol="0" anchor="t">
            <a:spAutoFit/>
          </a:bodyPr>
          <a:lstStyle/>
          <a:p>
            <a:pPr marL="647700" lvl="1" indent="-323850">
              <a:lnSpc>
                <a:spcPts val="4200"/>
              </a:lnSpc>
              <a:buFont typeface="Arial"/>
              <a:buChar char="•"/>
            </a:pPr>
            <a:r>
              <a:rPr lang="en-US" sz="3000" dirty="0">
                <a:solidFill>
                  <a:srgbClr val="FFFFFF"/>
                </a:solidFill>
                <a:latin typeface="TT Hoves"/>
                <a:ea typeface="TT Hoves"/>
                <a:cs typeface="TT Hoves"/>
                <a:sym typeface="TT Hoves"/>
              </a:rPr>
              <a:t>Our Team</a:t>
            </a:r>
          </a:p>
          <a:p>
            <a:pPr marL="647700" lvl="1" indent="-323850" algn="l">
              <a:lnSpc>
                <a:spcPts val="4200"/>
              </a:lnSpc>
              <a:buFont typeface="Arial"/>
              <a:buChar char="•"/>
            </a:pPr>
            <a:r>
              <a:rPr lang="en-US" sz="3000" dirty="0" smtClean="0">
                <a:solidFill>
                  <a:srgbClr val="FFFFFF"/>
                </a:solidFill>
                <a:latin typeface="TT Hoves"/>
                <a:ea typeface="TT Hoves"/>
                <a:cs typeface="TT Hoves"/>
                <a:sym typeface="TT Hoves"/>
              </a:rPr>
              <a:t>Project Summary</a:t>
            </a:r>
            <a:endParaRPr lang="en-US" sz="3000" dirty="0">
              <a:solidFill>
                <a:srgbClr val="FFFFFF"/>
              </a:solidFill>
              <a:latin typeface="TT Hoves"/>
              <a:ea typeface="TT Hoves"/>
              <a:cs typeface="TT Hoves"/>
              <a:sym typeface="TT Hoves"/>
            </a:endParaRPr>
          </a:p>
          <a:p>
            <a:pPr marL="647700" lvl="1" indent="-323850" algn="l">
              <a:lnSpc>
                <a:spcPts val="4200"/>
              </a:lnSpc>
              <a:buFont typeface="Arial"/>
              <a:buChar char="•"/>
            </a:pPr>
            <a:r>
              <a:rPr lang="en-US" sz="3000" dirty="0" smtClean="0">
                <a:solidFill>
                  <a:srgbClr val="FFFFFF"/>
                </a:solidFill>
                <a:latin typeface="TT Hoves"/>
                <a:ea typeface="TT Hoves"/>
                <a:cs typeface="TT Hoves"/>
                <a:sym typeface="TT Hoves"/>
              </a:rPr>
              <a:t>KPIs List</a:t>
            </a:r>
            <a:endParaRPr lang="en-US" sz="3000" dirty="0">
              <a:solidFill>
                <a:srgbClr val="FFFFFF"/>
              </a:solidFill>
              <a:latin typeface="TT Hoves"/>
              <a:ea typeface="TT Hoves"/>
              <a:cs typeface="TT Hoves"/>
              <a:sym typeface="TT Hoves"/>
            </a:endParaRPr>
          </a:p>
          <a:p>
            <a:pPr marL="647700" lvl="1" indent="-323850" algn="l">
              <a:lnSpc>
                <a:spcPts val="4200"/>
              </a:lnSpc>
              <a:buFont typeface="Arial"/>
              <a:buChar char="•"/>
            </a:pPr>
            <a:r>
              <a:rPr lang="en-US" sz="3000" dirty="0" smtClean="0">
                <a:solidFill>
                  <a:srgbClr val="FFFFFF"/>
                </a:solidFill>
                <a:latin typeface="TT Hoves"/>
                <a:ea typeface="TT Hoves"/>
                <a:cs typeface="TT Hoves"/>
                <a:sym typeface="TT Hoves"/>
              </a:rPr>
              <a:t>KPIs </a:t>
            </a:r>
            <a:r>
              <a:rPr lang="en-US" sz="3000" dirty="0" err="1" smtClean="0">
                <a:solidFill>
                  <a:srgbClr val="FFFFFF"/>
                </a:solidFill>
                <a:latin typeface="TT Hoves"/>
                <a:ea typeface="TT Hoves"/>
                <a:cs typeface="TT Hoves"/>
                <a:sym typeface="TT Hoves"/>
              </a:rPr>
              <a:t>Explaination</a:t>
            </a:r>
            <a:endParaRPr lang="en-US" sz="3000" dirty="0">
              <a:solidFill>
                <a:srgbClr val="FFFFFF"/>
              </a:solidFill>
              <a:latin typeface="TT Hoves"/>
              <a:ea typeface="TT Hoves"/>
              <a:cs typeface="TT Hoves"/>
              <a:sym typeface="TT Hoves"/>
            </a:endParaRPr>
          </a:p>
          <a:p>
            <a:pPr marL="647700" lvl="1" indent="-323850" algn="l">
              <a:lnSpc>
                <a:spcPts val="4200"/>
              </a:lnSpc>
              <a:buFont typeface="Arial"/>
              <a:buChar char="•"/>
            </a:pPr>
            <a:r>
              <a:rPr lang="en-US" sz="3000" dirty="0" smtClean="0">
                <a:solidFill>
                  <a:srgbClr val="FFFFFF"/>
                </a:solidFill>
                <a:latin typeface="TT Hoves"/>
                <a:ea typeface="TT Hoves"/>
                <a:cs typeface="TT Hoves"/>
                <a:sym typeface="TT Hoves"/>
              </a:rPr>
              <a:t>Excel Dashboard </a:t>
            </a:r>
          </a:p>
          <a:p>
            <a:pPr marL="647700" lvl="1" indent="-323850" algn="l">
              <a:lnSpc>
                <a:spcPts val="4200"/>
              </a:lnSpc>
              <a:buFont typeface="Arial"/>
              <a:buChar char="•"/>
            </a:pPr>
            <a:r>
              <a:rPr lang="en-US" sz="3000" dirty="0" smtClean="0">
                <a:solidFill>
                  <a:srgbClr val="FFFFFF"/>
                </a:solidFill>
                <a:latin typeface="TT Hoves"/>
                <a:ea typeface="TT Hoves"/>
                <a:cs typeface="TT Hoves"/>
                <a:sym typeface="TT Hoves"/>
              </a:rPr>
              <a:t>Power BI Dashboard</a:t>
            </a:r>
            <a:endParaRPr lang="en-US" sz="3000" dirty="0">
              <a:solidFill>
                <a:srgbClr val="FFFFFF"/>
              </a:solidFill>
              <a:latin typeface="TT Hoves"/>
              <a:ea typeface="TT Hoves"/>
              <a:cs typeface="TT Hoves"/>
              <a:sym typeface="TT Hoves"/>
            </a:endParaRPr>
          </a:p>
          <a:p>
            <a:pPr marL="647700" lvl="1" indent="-323850" algn="l">
              <a:lnSpc>
                <a:spcPts val="4200"/>
              </a:lnSpc>
              <a:spcBef>
                <a:spcPct val="0"/>
              </a:spcBef>
              <a:buFont typeface="Arial"/>
              <a:buChar char="•"/>
            </a:pPr>
            <a:r>
              <a:rPr lang="en-US" sz="3000" dirty="0" smtClean="0">
                <a:solidFill>
                  <a:srgbClr val="FFFFFF"/>
                </a:solidFill>
                <a:latin typeface="TT Hoves"/>
                <a:ea typeface="TT Hoves"/>
                <a:cs typeface="TT Hoves"/>
                <a:sym typeface="TT Hoves"/>
              </a:rPr>
              <a:t>Tableau  Dashboard</a:t>
            </a:r>
          </a:p>
          <a:p>
            <a:pPr marL="647700" lvl="1" indent="-323850" algn="l">
              <a:lnSpc>
                <a:spcPts val="4200"/>
              </a:lnSpc>
              <a:spcBef>
                <a:spcPct val="0"/>
              </a:spcBef>
              <a:buFont typeface="Arial"/>
              <a:buChar char="•"/>
            </a:pPr>
            <a:r>
              <a:rPr lang="en-US" sz="3000" dirty="0" smtClean="0">
                <a:solidFill>
                  <a:srgbClr val="FFFFFF"/>
                </a:solidFill>
                <a:latin typeface="TT Hoves"/>
                <a:ea typeface="TT Hoves"/>
                <a:cs typeface="TT Hoves"/>
                <a:sym typeface="TT Hoves"/>
              </a:rPr>
              <a:t>SQL Screenshot</a:t>
            </a:r>
          </a:p>
          <a:p>
            <a:pPr marL="647700" lvl="1" indent="-323850">
              <a:lnSpc>
                <a:spcPts val="4200"/>
              </a:lnSpc>
              <a:spcBef>
                <a:spcPct val="0"/>
              </a:spcBef>
              <a:buFont typeface="Arial"/>
              <a:buChar char="•"/>
            </a:pPr>
            <a:r>
              <a:rPr lang="en-US" sz="3000" dirty="0" smtClean="0">
                <a:solidFill>
                  <a:srgbClr val="FFFFFF"/>
                </a:solidFill>
                <a:latin typeface="TT Hoves"/>
                <a:ea typeface="TT Hoves"/>
                <a:cs typeface="TT Hoves"/>
                <a:sym typeface="TT Hoves"/>
              </a:rPr>
              <a:t>Key Takeaways</a:t>
            </a:r>
            <a:endParaRPr lang="en-US" sz="3000" dirty="0">
              <a:solidFill>
                <a:srgbClr val="FFFFFF"/>
              </a:solidFill>
              <a:latin typeface="TT Hoves"/>
              <a:ea typeface="TT Hoves"/>
              <a:cs typeface="TT Hoves"/>
              <a:sym typeface="TT Hoves"/>
            </a:endParaRPr>
          </a:p>
          <a:p>
            <a:pPr marL="323850" lvl="1" algn="l">
              <a:lnSpc>
                <a:spcPts val="4200"/>
              </a:lnSpc>
              <a:spcBef>
                <a:spcPct val="0"/>
              </a:spcBef>
            </a:pPr>
            <a:r>
              <a:rPr lang="en-US" sz="3000" dirty="0" smtClean="0">
                <a:solidFill>
                  <a:srgbClr val="FFFFFF"/>
                </a:solidFill>
                <a:latin typeface="TT Hoves"/>
                <a:ea typeface="TT Hoves"/>
                <a:cs typeface="TT Hoves"/>
                <a:sym typeface="TT Hoves"/>
              </a:rPr>
              <a:t/>
            </a:r>
            <a:br>
              <a:rPr lang="en-US" sz="3000" dirty="0" smtClean="0">
                <a:solidFill>
                  <a:srgbClr val="FFFFFF"/>
                </a:solidFill>
                <a:latin typeface="TT Hoves"/>
                <a:ea typeface="TT Hoves"/>
                <a:cs typeface="TT Hoves"/>
                <a:sym typeface="TT Hoves"/>
              </a:rPr>
            </a:br>
            <a:endParaRPr lang="en-US" sz="3000" dirty="0">
              <a:solidFill>
                <a:srgbClr val="FFFFFF"/>
              </a:solidFill>
              <a:latin typeface="TT Hoves"/>
              <a:ea typeface="TT Hoves"/>
              <a:cs typeface="TT Hoves"/>
              <a:sym typeface="TT Hoves"/>
            </a:endParaRPr>
          </a:p>
        </p:txBody>
      </p:sp>
      <p:pic>
        <p:nvPicPr>
          <p:cNvPr id="16"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85149" y="2754036"/>
            <a:ext cx="5920061" cy="5920061"/>
          </a:xfrm>
          <a:prstGeom prst="rect">
            <a:avLst/>
          </a:prstGeom>
        </p:spPr>
      </p:pic>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535150" y="518815"/>
            <a:ext cx="3448050" cy="5098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AutoShape 3"/>
          <p:cNvSpPr/>
          <p:nvPr/>
        </p:nvSpPr>
        <p:spPr>
          <a:xfrm>
            <a:off x="0" y="9258300"/>
            <a:ext cx="18288000" cy="0"/>
          </a:xfrm>
          <a:prstGeom prst="line">
            <a:avLst/>
          </a:prstGeom>
          <a:ln w="19050" cap="flat">
            <a:solidFill>
              <a:srgbClr val="FFFFFF"/>
            </a:solidFill>
            <a:prstDash val="solid"/>
            <a:headEnd type="none" w="sm" len="sm"/>
            <a:tailEnd type="none" w="sm" len="sm"/>
          </a:ln>
        </p:spPr>
      </p:sp>
      <p:sp>
        <p:nvSpPr>
          <p:cNvPr id="10" name="TextBox 10"/>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14" name="TextBox 14"/>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Page 08</a:t>
            </a:r>
          </a:p>
        </p:txBody>
      </p:sp>
      <p:sp>
        <p:nvSpPr>
          <p:cNvPr id="15" name="TextBox 15"/>
          <p:cNvSpPr txBox="1"/>
          <p:nvPr/>
        </p:nvSpPr>
        <p:spPr>
          <a:xfrm>
            <a:off x="4576077" y="614714"/>
            <a:ext cx="8371882" cy="984885"/>
          </a:xfrm>
          <a:prstGeom prst="rect">
            <a:avLst/>
          </a:prstGeom>
        </p:spPr>
        <p:txBody>
          <a:bodyPr lIns="0" tIns="0" rIns="0" bIns="0" rtlCol="0" anchor="t">
            <a:spAutoFit/>
          </a:bodyPr>
          <a:lstStyle/>
          <a:p>
            <a:pPr algn="l">
              <a:lnSpc>
                <a:spcPts val="7020"/>
              </a:lnSpc>
            </a:pPr>
            <a:r>
              <a:rPr lang="en-US" sz="6500" dirty="0">
                <a:solidFill>
                  <a:srgbClr val="FFFFFF"/>
                </a:solidFill>
                <a:latin typeface="Horizon"/>
                <a:ea typeface="Horizon"/>
                <a:cs typeface="Horizon"/>
                <a:sym typeface="Horizon"/>
              </a:rPr>
              <a:t>Our Team</a:t>
            </a:r>
          </a:p>
        </p:txBody>
      </p:sp>
      <p:sp>
        <p:nvSpPr>
          <p:cNvPr id="34" name="TextBox 34"/>
          <p:cNvSpPr txBox="1"/>
          <p:nvPr/>
        </p:nvSpPr>
        <p:spPr>
          <a:xfrm>
            <a:off x="1431393" y="3695700"/>
            <a:ext cx="7330625" cy="3480440"/>
          </a:xfrm>
          <a:prstGeom prst="rect">
            <a:avLst/>
          </a:prstGeom>
        </p:spPr>
        <p:txBody>
          <a:bodyPr wrap="square" lIns="0" tIns="0" rIns="0" bIns="0" rtlCol="0" anchor="t">
            <a:spAutoFit/>
          </a:bodyPr>
          <a:lstStyle/>
          <a:p>
            <a:pPr marL="514350" indent="-514350" algn="just">
              <a:buAutoNum type="arabicPeriod"/>
            </a:pPr>
            <a:r>
              <a:rPr lang="en-US" sz="3200" dirty="0" err="1">
                <a:solidFill>
                  <a:schemeClr val="bg1">
                    <a:lumMod val="75000"/>
                  </a:schemeClr>
                </a:solidFill>
                <a:ea typeface="Calibri" panose="020F0502020204030204"/>
                <a:cs typeface="Calibri" panose="020F0502020204030204"/>
              </a:rPr>
              <a:t>Praful</a:t>
            </a:r>
            <a:r>
              <a:rPr lang="en-US" sz="3200" dirty="0">
                <a:solidFill>
                  <a:schemeClr val="bg1">
                    <a:lumMod val="75000"/>
                  </a:schemeClr>
                </a:solidFill>
                <a:ea typeface="Calibri" panose="020F0502020204030204"/>
                <a:cs typeface="Calibri" panose="020F0502020204030204"/>
              </a:rPr>
              <a:t> </a:t>
            </a:r>
            <a:r>
              <a:rPr lang="en-US" sz="3200" dirty="0" err="1">
                <a:solidFill>
                  <a:schemeClr val="bg1">
                    <a:lumMod val="75000"/>
                  </a:schemeClr>
                </a:solidFill>
                <a:ea typeface="Calibri" panose="020F0502020204030204"/>
                <a:cs typeface="Calibri" panose="020F0502020204030204"/>
              </a:rPr>
              <a:t>Prakash</a:t>
            </a:r>
            <a:r>
              <a:rPr lang="en-US" sz="3200" dirty="0">
                <a:solidFill>
                  <a:schemeClr val="bg1">
                    <a:lumMod val="75000"/>
                  </a:schemeClr>
                </a:solidFill>
                <a:ea typeface="Calibri" panose="020F0502020204030204"/>
                <a:cs typeface="Calibri" panose="020F0502020204030204"/>
              </a:rPr>
              <a:t> </a:t>
            </a:r>
            <a:r>
              <a:rPr lang="en-US" sz="3200" dirty="0" err="1">
                <a:solidFill>
                  <a:schemeClr val="bg1">
                    <a:lumMod val="75000"/>
                  </a:schemeClr>
                </a:solidFill>
                <a:ea typeface="Calibri" panose="020F0502020204030204"/>
                <a:cs typeface="Calibri" panose="020F0502020204030204"/>
              </a:rPr>
              <a:t>Dudhewar</a:t>
            </a:r>
            <a:endParaRPr lang="en-US" sz="3200" dirty="0">
              <a:solidFill>
                <a:schemeClr val="bg1">
                  <a:lumMod val="75000"/>
                </a:schemeClr>
              </a:solidFill>
              <a:ea typeface="Calibri" panose="020F0502020204030204"/>
              <a:cs typeface="Calibri" panose="020F0502020204030204"/>
            </a:endParaRPr>
          </a:p>
          <a:p>
            <a:pPr marL="514350" indent="-514350" algn="just">
              <a:buAutoNum type="arabicPeriod"/>
            </a:pPr>
            <a:r>
              <a:rPr lang="en-US" sz="3200" dirty="0" err="1">
                <a:solidFill>
                  <a:schemeClr val="bg1">
                    <a:lumMod val="75000"/>
                  </a:schemeClr>
                </a:solidFill>
                <a:ea typeface="Calibri" panose="020F0502020204030204"/>
                <a:cs typeface="Calibri" panose="020F0502020204030204"/>
              </a:rPr>
              <a:t>Golla</a:t>
            </a:r>
            <a:r>
              <a:rPr lang="en-US" sz="3200" dirty="0">
                <a:solidFill>
                  <a:schemeClr val="bg1">
                    <a:lumMod val="75000"/>
                  </a:schemeClr>
                </a:solidFill>
                <a:ea typeface="Calibri" panose="020F0502020204030204"/>
                <a:cs typeface="Calibri" panose="020F0502020204030204"/>
              </a:rPr>
              <a:t> </a:t>
            </a:r>
            <a:r>
              <a:rPr lang="en-US" sz="3200" dirty="0" err="1">
                <a:solidFill>
                  <a:schemeClr val="bg1">
                    <a:lumMod val="75000"/>
                  </a:schemeClr>
                </a:solidFill>
                <a:ea typeface="Calibri" panose="020F0502020204030204"/>
                <a:cs typeface="Calibri" panose="020F0502020204030204"/>
              </a:rPr>
              <a:t>Niharika</a:t>
            </a:r>
            <a:endParaRPr lang="en-US" sz="3200" dirty="0">
              <a:solidFill>
                <a:schemeClr val="bg1">
                  <a:lumMod val="75000"/>
                </a:schemeClr>
              </a:solidFill>
              <a:ea typeface="Calibri" panose="020F0502020204030204"/>
              <a:cs typeface="Calibri" panose="020F0502020204030204"/>
            </a:endParaRPr>
          </a:p>
          <a:p>
            <a:pPr marL="514350" indent="-514350" algn="just">
              <a:buAutoNum type="arabicPeriod"/>
            </a:pPr>
            <a:r>
              <a:rPr lang="en-US" sz="3200" dirty="0" err="1">
                <a:solidFill>
                  <a:schemeClr val="bg1">
                    <a:lumMod val="75000"/>
                  </a:schemeClr>
                </a:solidFill>
                <a:ea typeface="Calibri" panose="020F0502020204030204"/>
                <a:cs typeface="Calibri" panose="020F0502020204030204"/>
              </a:rPr>
              <a:t>Samiksha</a:t>
            </a:r>
            <a:r>
              <a:rPr lang="en-US" sz="3200" dirty="0">
                <a:solidFill>
                  <a:schemeClr val="bg1">
                    <a:lumMod val="75000"/>
                  </a:schemeClr>
                </a:solidFill>
                <a:ea typeface="Calibri" panose="020F0502020204030204"/>
                <a:cs typeface="Calibri" panose="020F0502020204030204"/>
              </a:rPr>
              <a:t> </a:t>
            </a:r>
            <a:r>
              <a:rPr lang="en-US" sz="3200" dirty="0" err="1">
                <a:solidFill>
                  <a:schemeClr val="bg1">
                    <a:lumMod val="75000"/>
                  </a:schemeClr>
                </a:solidFill>
                <a:ea typeface="Calibri" panose="020F0502020204030204"/>
                <a:cs typeface="Calibri" panose="020F0502020204030204"/>
              </a:rPr>
              <a:t>Madhusudan</a:t>
            </a:r>
            <a:r>
              <a:rPr lang="en-US" sz="3200" dirty="0">
                <a:solidFill>
                  <a:schemeClr val="bg1">
                    <a:lumMod val="75000"/>
                  </a:schemeClr>
                </a:solidFill>
                <a:ea typeface="Calibri" panose="020F0502020204030204"/>
                <a:cs typeface="Calibri" panose="020F0502020204030204"/>
              </a:rPr>
              <a:t> </a:t>
            </a:r>
            <a:r>
              <a:rPr lang="en-US" sz="3200" dirty="0" err="1">
                <a:solidFill>
                  <a:schemeClr val="bg1">
                    <a:lumMod val="75000"/>
                  </a:schemeClr>
                </a:solidFill>
                <a:ea typeface="Calibri" panose="020F0502020204030204"/>
                <a:cs typeface="Calibri" panose="020F0502020204030204"/>
              </a:rPr>
              <a:t>Dhore</a:t>
            </a:r>
            <a:endParaRPr lang="en-US" sz="3200" dirty="0">
              <a:solidFill>
                <a:schemeClr val="bg1">
                  <a:lumMod val="75000"/>
                </a:schemeClr>
              </a:solidFill>
              <a:ea typeface="Calibri" panose="020F0502020204030204"/>
              <a:cs typeface="Calibri" panose="020F0502020204030204"/>
            </a:endParaRPr>
          </a:p>
          <a:p>
            <a:pPr marL="514350" indent="-514350" algn="just">
              <a:buAutoNum type="arabicPeriod"/>
            </a:pPr>
            <a:r>
              <a:rPr lang="en-US" sz="3200" dirty="0" err="1">
                <a:solidFill>
                  <a:schemeClr val="bg1">
                    <a:lumMod val="75000"/>
                  </a:schemeClr>
                </a:solidFill>
                <a:ea typeface="Calibri" panose="020F0502020204030204"/>
                <a:cs typeface="Calibri" panose="020F0502020204030204"/>
              </a:rPr>
              <a:t>Yash</a:t>
            </a:r>
            <a:r>
              <a:rPr lang="en-US" sz="3200" dirty="0">
                <a:solidFill>
                  <a:schemeClr val="bg1">
                    <a:lumMod val="75000"/>
                  </a:schemeClr>
                </a:solidFill>
                <a:ea typeface="Calibri" panose="020F0502020204030204"/>
                <a:cs typeface="Calibri" panose="020F0502020204030204"/>
              </a:rPr>
              <a:t> </a:t>
            </a:r>
            <a:r>
              <a:rPr lang="en-US" sz="3200" dirty="0" err="1">
                <a:solidFill>
                  <a:schemeClr val="bg1">
                    <a:lumMod val="75000"/>
                  </a:schemeClr>
                </a:solidFill>
                <a:ea typeface="Calibri" panose="020F0502020204030204"/>
                <a:cs typeface="Calibri" panose="020F0502020204030204"/>
              </a:rPr>
              <a:t>Jagtap</a:t>
            </a:r>
            <a:endParaRPr lang="en-US" sz="3200" dirty="0">
              <a:solidFill>
                <a:schemeClr val="bg1">
                  <a:lumMod val="75000"/>
                </a:schemeClr>
              </a:solidFill>
              <a:ea typeface="Calibri" panose="020F0502020204030204"/>
              <a:cs typeface="Calibri" panose="020F0502020204030204"/>
            </a:endParaRPr>
          </a:p>
          <a:p>
            <a:pPr marL="514350" indent="-514350" algn="just">
              <a:buAutoNum type="arabicPeriod"/>
            </a:pPr>
            <a:r>
              <a:rPr lang="en-US" sz="3200" dirty="0" err="1">
                <a:solidFill>
                  <a:schemeClr val="bg1">
                    <a:lumMod val="75000"/>
                  </a:schemeClr>
                </a:solidFill>
                <a:ea typeface="Calibri" panose="020F0502020204030204"/>
                <a:cs typeface="Calibri" panose="020F0502020204030204"/>
              </a:rPr>
              <a:t>Geethapriya</a:t>
            </a:r>
            <a:r>
              <a:rPr lang="en-US" sz="3200" dirty="0">
                <a:solidFill>
                  <a:schemeClr val="bg1">
                    <a:lumMod val="75000"/>
                  </a:schemeClr>
                </a:solidFill>
                <a:ea typeface="Calibri" panose="020F0502020204030204"/>
                <a:cs typeface="Calibri" panose="020F0502020204030204"/>
              </a:rPr>
              <a:t> </a:t>
            </a:r>
            <a:r>
              <a:rPr lang="en-US" sz="3200" dirty="0" err="1">
                <a:solidFill>
                  <a:schemeClr val="bg1">
                    <a:lumMod val="75000"/>
                  </a:schemeClr>
                </a:solidFill>
                <a:ea typeface="Calibri" panose="020F0502020204030204"/>
                <a:cs typeface="Calibri" panose="020F0502020204030204"/>
              </a:rPr>
              <a:t>Kalaiselvan</a:t>
            </a:r>
            <a:endParaRPr lang="en-US" sz="3200" dirty="0">
              <a:solidFill>
                <a:schemeClr val="bg1">
                  <a:lumMod val="75000"/>
                </a:schemeClr>
              </a:solidFill>
              <a:ea typeface="Calibri" panose="020F0502020204030204"/>
              <a:cs typeface="Calibri" panose="020F0502020204030204"/>
            </a:endParaRPr>
          </a:p>
          <a:p>
            <a:pPr marL="514350" indent="-514350" algn="just">
              <a:buAutoNum type="arabicPeriod"/>
            </a:pPr>
            <a:r>
              <a:rPr lang="en-US" sz="3200" dirty="0" err="1">
                <a:solidFill>
                  <a:schemeClr val="bg1">
                    <a:lumMod val="75000"/>
                  </a:schemeClr>
                </a:solidFill>
                <a:ea typeface="Calibri" panose="020F0502020204030204"/>
                <a:cs typeface="Calibri" panose="020F0502020204030204"/>
              </a:rPr>
              <a:t>Prachi</a:t>
            </a:r>
            <a:r>
              <a:rPr lang="en-US" sz="3200" dirty="0">
                <a:solidFill>
                  <a:schemeClr val="bg1">
                    <a:lumMod val="75000"/>
                  </a:schemeClr>
                </a:solidFill>
                <a:ea typeface="Calibri" panose="020F0502020204030204"/>
                <a:cs typeface="Calibri" panose="020F0502020204030204"/>
              </a:rPr>
              <a:t> </a:t>
            </a:r>
            <a:r>
              <a:rPr lang="en-US" sz="3200" dirty="0" err="1">
                <a:solidFill>
                  <a:schemeClr val="bg1">
                    <a:lumMod val="75000"/>
                  </a:schemeClr>
                </a:solidFill>
                <a:ea typeface="Calibri" panose="020F0502020204030204"/>
                <a:cs typeface="Calibri" panose="020F0502020204030204"/>
              </a:rPr>
              <a:t>Saxena</a:t>
            </a:r>
            <a:endParaRPr lang="en-US" sz="3200" dirty="0">
              <a:solidFill>
                <a:schemeClr val="bg1">
                  <a:lumMod val="75000"/>
                </a:schemeClr>
              </a:solidFill>
              <a:ea typeface="Calibri" panose="020F0502020204030204"/>
              <a:cs typeface="Calibri" panose="020F0502020204030204"/>
            </a:endParaRPr>
          </a:p>
          <a:p>
            <a:pPr algn="ctr">
              <a:lnSpc>
                <a:spcPts val="4059"/>
              </a:lnSpc>
            </a:pPr>
            <a:endParaRPr lang="en-US" sz="2899" b="1" dirty="0">
              <a:solidFill>
                <a:schemeClr val="bg1">
                  <a:lumMod val="75000"/>
                </a:schemeClr>
              </a:solidFill>
              <a:latin typeface="TT Hoves Bold"/>
              <a:ea typeface="TT Hoves Bold"/>
              <a:cs typeface="TT Hoves Bold"/>
              <a:sym typeface="TT Hoves Bold"/>
            </a:endParaRPr>
          </a:p>
        </p:txBody>
      </p:sp>
      <p:grpSp>
        <p:nvGrpSpPr>
          <p:cNvPr id="17" name="Group 10"/>
          <p:cNvGrpSpPr/>
          <p:nvPr/>
        </p:nvGrpSpPr>
        <p:grpSpPr>
          <a:xfrm>
            <a:off x="11209875" y="2197547"/>
            <a:ext cx="5705321" cy="5700800"/>
            <a:chOff x="0" y="0"/>
            <a:chExt cx="1502636" cy="1501445"/>
          </a:xfrm>
        </p:grpSpPr>
        <p:sp>
          <p:nvSpPr>
            <p:cNvPr id="18" name="Freeform 11"/>
            <p:cNvSpPr/>
            <p:nvPr/>
          </p:nvSpPr>
          <p:spPr>
            <a:xfrm>
              <a:off x="0" y="0"/>
              <a:ext cx="1502636" cy="1501445"/>
            </a:xfrm>
            <a:custGeom>
              <a:avLst/>
              <a:gdLst/>
              <a:ahLst/>
              <a:cxnLst/>
              <a:rect l="l" t="t" r="r" b="b"/>
              <a:pathLst>
                <a:path w="1502636" h="1501445">
                  <a:moveTo>
                    <a:pt x="0" y="0"/>
                  </a:moveTo>
                  <a:lnTo>
                    <a:pt x="1502636" y="0"/>
                  </a:lnTo>
                  <a:lnTo>
                    <a:pt x="1502636" y="1501445"/>
                  </a:lnTo>
                  <a:lnTo>
                    <a:pt x="0" y="1501445"/>
                  </a:lnTo>
                  <a:close/>
                </a:path>
              </a:pathLst>
            </a:custGeom>
            <a:solidFill>
              <a:srgbClr val="000000">
                <a:alpha val="77647"/>
              </a:srgbClr>
            </a:solidFill>
            <a:ln w="38100" cap="sq">
              <a:solidFill>
                <a:srgbClr val="FFFFFF">
                  <a:alpha val="77647"/>
                </a:srgbClr>
              </a:solidFill>
              <a:prstDash val="solid"/>
              <a:miter/>
            </a:ln>
          </p:spPr>
        </p:sp>
        <p:sp>
          <p:nvSpPr>
            <p:cNvPr id="19" name="TextBox 12"/>
            <p:cNvSpPr txBox="1"/>
            <p:nvPr/>
          </p:nvSpPr>
          <p:spPr>
            <a:xfrm>
              <a:off x="0" y="-38100"/>
              <a:ext cx="1502636" cy="1539545"/>
            </a:xfrm>
            <a:prstGeom prst="rect">
              <a:avLst/>
            </a:prstGeom>
          </p:spPr>
          <p:txBody>
            <a:bodyPr lIns="50800" tIns="50800" rIns="50800" bIns="50800" rtlCol="0" anchor="ctr"/>
            <a:lstStyle/>
            <a:p>
              <a:pPr algn="ctr">
                <a:lnSpc>
                  <a:spcPts val="2659"/>
                </a:lnSpc>
                <a:spcBef>
                  <a:spcPct val="0"/>
                </a:spcBef>
              </a:pPr>
              <a:endParaRPr/>
            </a:p>
          </p:txBody>
        </p:sp>
      </p:grpSp>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5149" y="2754035"/>
            <a:ext cx="5920061" cy="5920061"/>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85148" y="2754034"/>
            <a:ext cx="5920061" cy="5920061"/>
          </a:xfrm>
          <a:prstGeom prst="rect">
            <a:avLst/>
          </a:prstGeom>
        </p:spPr>
      </p:pic>
      <p:pic>
        <p:nvPicPr>
          <p:cNvPr id="20" name="Picture 1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535150" y="518815"/>
            <a:ext cx="3448050" cy="5098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Page 01</a:t>
            </a:r>
          </a:p>
        </p:txBody>
      </p:sp>
      <p:sp>
        <p:nvSpPr>
          <p:cNvPr id="8" name="TextBox 9"/>
          <p:cNvSpPr txBox="1"/>
          <p:nvPr/>
        </p:nvSpPr>
        <p:spPr>
          <a:xfrm>
            <a:off x="609600" y="393705"/>
            <a:ext cx="16028255" cy="856004"/>
          </a:xfrm>
          <a:prstGeom prst="rect">
            <a:avLst/>
          </a:prstGeom>
        </p:spPr>
        <p:txBody>
          <a:bodyPr wrap="square" lIns="0" tIns="0" rIns="0" bIns="0" rtlCol="0" anchor="t">
            <a:spAutoFit/>
          </a:bodyPr>
          <a:lstStyle/>
          <a:p>
            <a:pPr algn="l">
              <a:lnSpc>
                <a:spcPts val="6480"/>
              </a:lnSpc>
            </a:pPr>
            <a:r>
              <a:rPr lang="en-US" sz="5400" dirty="0" smtClean="0">
                <a:solidFill>
                  <a:srgbClr val="FFFFFF"/>
                </a:solidFill>
                <a:latin typeface="Horizon"/>
                <a:ea typeface="Horizon"/>
                <a:cs typeface="Horizon"/>
                <a:sym typeface="Horizon"/>
              </a:rPr>
              <a:t> Project  summary</a:t>
            </a:r>
            <a:endParaRPr lang="en-US" sz="5400" dirty="0">
              <a:solidFill>
                <a:srgbClr val="FFFFFF"/>
              </a:solidFill>
              <a:latin typeface="Horizon"/>
              <a:ea typeface="Horizon"/>
              <a:cs typeface="Horizon"/>
              <a:sym typeface="Horizon"/>
            </a:endParaRPr>
          </a:p>
        </p:txBody>
      </p:sp>
      <p:sp>
        <p:nvSpPr>
          <p:cNvPr id="10" name="Content Placeholder 2"/>
          <p:cNvSpPr>
            <a:spLocks noGrp="1"/>
          </p:cNvSpPr>
          <p:nvPr/>
        </p:nvSpPr>
        <p:spPr>
          <a:xfrm>
            <a:off x="840206" y="2536404"/>
            <a:ext cx="16419094" cy="687429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000" b="1" dirty="0">
                <a:solidFill>
                  <a:schemeClr val="bg1">
                    <a:lumMod val="85000"/>
                  </a:schemeClr>
                </a:solidFill>
                <a:latin typeface="Calibri" panose="020F0502020204030204"/>
                <a:ea typeface="Calibri" panose="020F0502020204030204"/>
                <a:cs typeface="Calibri" panose="020F0502020204030204"/>
              </a:rPr>
              <a:t>Scope of Analysis</a:t>
            </a:r>
          </a:p>
          <a:p>
            <a:pPr marL="0" indent="0" algn="just">
              <a:buNone/>
            </a:pPr>
            <a:r>
              <a:rPr lang="en-US" sz="3600" dirty="0">
                <a:solidFill>
                  <a:schemeClr val="bg1">
                    <a:lumMod val="75000"/>
                  </a:schemeClr>
                </a:solidFill>
                <a:latin typeface="Calibri" panose="020F0502020204030204"/>
                <a:ea typeface="Calibri" panose="020F0502020204030204"/>
                <a:cs typeface="Calibri" panose="020F0502020204030204"/>
              </a:rPr>
              <a:t>The analysis focuses on production trends over time, department-wise performance, machine and employee efficiency. It also examines rejection and wastage patterns to identify  inefficiencies and operational gaps.</a:t>
            </a:r>
          </a:p>
          <a:p>
            <a:pPr marL="0" indent="0" algn="just">
              <a:buNone/>
            </a:pPr>
            <a:r>
              <a:rPr lang="en-US" sz="4000" b="1" dirty="0">
                <a:solidFill>
                  <a:schemeClr val="bg1">
                    <a:lumMod val="85000"/>
                  </a:schemeClr>
                </a:solidFill>
                <a:latin typeface="Calibri" panose="020F0502020204030204"/>
                <a:ea typeface="Calibri" panose="020F0502020204030204"/>
                <a:cs typeface="Calibri" panose="020F0502020204030204"/>
              </a:rPr>
              <a:t>Business Objective</a:t>
            </a:r>
          </a:p>
          <a:p>
            <a:pPr marL="0" indent="0" algn="just">
              <a:buNone/>
            </a:pPr>
            <a:r>
              <a:rPr lang="en-US" sz="3600" dirty="0">
                <a:solidFill>
                  <a:schemeClr val="bg1">
                    <a:lumMod val="75000"/>
                  </a:schemeClr>
                </a:solidFill>
                <a:latin typeface="Calibri" panose="020F0502020204030204"/>
                <a:ea typeface="Calibri" panose="020F0502020204030204"/>
                <a:cs typeface="Calibri" panose="020F0502020204030204"/>
              </a:rPr>
              <a:t>The objective is </a:t>
            </a:r>
            <a:r>
              <a:rPr lang="en-US" sz="3600" dirty="0" err="1">
                <a:solidFill>
                  <a:schemeClr val="bg1">
                    <a:lumMod val="75000"/>
                  </a:schemeClr>
                </a:solidFill>
                <a:latin typeface="Calibri" panose="020F0502020204030204"/>
                <a:ea typeface="Calibri" panose="020F0502020204030204"/>
                <a:cs typeface="Calibri" panose="020F0502020204030204"/>
              </a:rPr>
              <a:t>to</a:t>
            </a:r>
            <a:r>
              <a:rPr lang="en-US" sz="3600" dirty="0">
                <a:solidFill>
                  <a:schemeClr val="bg1">
                    <a:lumMod val="75000"/>
                  </a:schemeClr>
                </a:solidFill>
                <a:latin typeface="Calibri" panose="020F0502020204030204"/>
                <a:ea typeface="Calibri" panose="020F0502020204030204"/>
                <a:cs typeface="Calibri" panose="020F0502020204030204"/>
              </a:rPr>
              <a:t> analyze manufacturing data to enhance production efficiency, minimize rejection rates and optimize overall operational performance through informed ,data-driven decisions.</a:t>
            </a:r>
          </a:p>
          <a:p>
            <a:pPr marL="0" indent="0" algn="just">
              <a:buNone/>
            </a:pPr>
            <a:r>
              <a:rPr lang="en-US" sz="4000" b="1" dirty="0">
                <a:solidFill>
                  <a:schemeClr val="bg1">
                    <a:lumMod val="85000"/>
                  </a:schemeClr>
                </a:solidFill>
                <a:latin typeface="Calibri" panose="020F0502020204030204"/>
                <a:ea typeface="Calibri" panose="020F0502020204030204"/>
                <a:cs typeface="Calibri" panose="020F0502020204030204"/>
              </a:rPr>
              <a:t>Tools and Analysis Approach</a:t>
            </a:r>
          </a:p>
          <a:p>
            <a:pPr marL="0" indent="0" algn="just">
              <a:buNone/>
            </a:pPr>
            <a:r>
              <a:rPr lang="en-US" sz="3600" dirty="0">
                <a:solidFill>
                  <a:schemeClr val="bg1">
                    <a:lumMod val="75000"/>
                  </a:schemeClr>
                </a:solidFill>
                <a:latin typeface="Calibri" panose="020F0502020204030204"/>
                <a:ea typeface="Calibri" panose="020F0502020204030204"/>
                <a:cs typeface="Calibri" panose="020F0502020204030204"/>
              </a:rPr>
              <a:t>This project uses Excel for data cleaning and KPI </a:t>
            </a:r>
            <a:r>
              <a:rPr lang="en-US" sz="3600" dirty="0" err="1">
                <a:solidFill>
                  <a:schemeClr val="bg1">
                    <a:lumMod val="75000"/>
                  </a:schemeClr>
                </a:solidFill>
                <a:latin typeface="Calibri" panose="020F0502020204030204"/>
                <a:ea typeface="Calibri" panose="020F0502020204030204"/>
                <a:cs typeface="Calibri" panose="020F0502020204030204"/>
              </a:rPr>
              <a:t>development,along</a:t>
            </a:r>
            <a:r>
              <a:rPr lang="en-US" sz="3600" dirty="0">
                <a:solidFill>
                  <a:schemeClr val="bg1">
                    <a:lumMod val="75000"/>
                  </a:schemeClr>
                </a:solidFill>
                <a:latin typeface="Calibri" panose="020F0502020204030204"/>
                <a:ea typeface="Calibri" panose="020F0502020204030204"/>
                <a:cs typeface="Calibri" panose="020F0502020204030204"/>
              </a:rPr>
              <a:t> with SQL for efficient data extraction and querying. </a:t>
            </a:r>
            <a:r>
              <a:rPr lang="en-US" sz="3600" dirty="0" err="1">
                <a:solidFill>
                  <a:schemeClr val="bg1">
                    <a:lumMod val="75000"/>
                  </a:schemeClr>
                </a:solidFill>
                <a:latin typeface="Calibri" panose="020F0502020204030204"/>
                <a:ea typeface="Calibri" panose="020F0502020204030204"/>
                <a:cs typeface="Calibri" panose="020F0502020204030204"/>
              </a:rPr>
              <a:t>Interactiv</a:t>
            </a:r>
            <a:r>
              <a:rPr lang="en-US" sz="3600" dirty="0">
                <a:solidFill>
                  <a:schemeClr val="bg1">
                    <a:lumMod val="75000"/>
                  </a:schemeClr>
                </a:solidFill>
                <a:latin typeface="Calibri" panose="020F0502020204030204"/>
                <a:ea typeface="Calibri" panose="020F0502020204030204"/>
                <a:cs typeface="Calibri" panose="020F0502020204030204"/>
              </a:rPr>
              <a:t>e dashboards were created using Excel, </a:t>
            </a:r>
            <a:r>
              <a:rPr lang="en-US" sz="3600" dirty="0" err="1">
                <a:solidFill>
                  <a:schemeClr val="bg1">
                    <a:lumMod val="75000"/>
                  </a:schemeClr>
                </a:solidFill>
                <a:latin typeface="Calibri" panose="020F0502020204030204"/>
                <a:ea typeface="Calibri" panose="020F0502020204030204"/>
                <a:cs typeface="Calibri" panose="020F0502020204030204"/>
              </a:rPr>
              <a:t>PowerBI</a:t>
            </a:r>
            <a:r>
              <a:rPr lang="en-US" sz="3600" dirty="0">
                <a:solidFill>
                  <a:schemeClr val="bg1">
                    <a:lumMod val="75000"/>
                  </a:schemeClr>
                </a:solidFill>
                <a:latin typeface="Calibri" panose="020F0502020204030204"/>
                <a:ea typeface="Calibri" panose="020F0502020204030204"/>
                <a:cs typeface="Calibri" panose="020F0502020204030204"/>
              </a:rPr>
              <a:t> and Tableau to present insights clearly and support  effective decision-making.</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535150" y="518815"/>
            <a:ext cx="3448050" cy="509885"/>
          </a:xfrm>
          <a:prstGeom prst="rect">
            <a:avLst/>
          </a:prstGeom>
        </p:spPr>
      </p:pic>
    </p:spTree>
    <p:extLst>
      <p:ext uri="{BB962C8B-B14F-4D97-AF65-F5344CB8AC3E}">
        <p14:creationId xmlns:p14="http://schemas.microsoft.com/office/powerpoint/2010/main" val="3506231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Page 01</a:t>
            </a:r>
          </a:p>
        </p:txBody>
      </p:sp>
      <p:sp>
        <p:nvSpPr>
          <p:cNvPr id="8" name="TextBox 9"/>
          <p:cNvSpPr txBox="1"/>
          <p:nvPr/>
        </p:nvSpPr>
        <p:spPr>
          <a:xfrm>
            <a:off x="76200" y="999876"/>
            <a:ext cx="18135600" cy="833562"/>
          </a:xfrm>
          <a:prstGeom prst="rect">
            <a:avLst/>
          </a:prstGeom>
        </p:spPr>
        <p:txBody>
          <a:bodyPr wrap="square" lIns="0" tIns="0" rIns="0" bIns="0" rtlCol="0" anchor="t">
            <a:spAutoFit/>
          </a:bodyPr>
          <a:lstStyle/>
          <a:p>
            <a:pPr algn="l">
              <a:lnSpc>
                <a:spcPts val="6480"/>
              </a:lnSpc>
            </a:pPr>
            <a:r>
              <a:rPr lang="en-US" sz="4800" dirty="0" smtClean="0">
                <a:solidFill>
                  <a:srgbClr val="FFFFFF"/>
                </a:solidFill>
                <a:latin typeface="Horizon"/>
                <a:ea typeface="Horizon"/>
                <a:cs typeface="Horizon"/>
                <a:sym typeface="Horizon"/>
              </a:rPr>
              <a:t>Key performance indicators(KPIs)</a:t>
            </a:r>
            <a:endParaRPr lang="en-US" sz="4800" dirty="0">
              <a:solidFill>
                <a:srgbClr val="FFFFFF"/>
              </a:solidFill>
              <a:latin typeface="Horizon"/>
              <a:ea typeface="Horizon"/>
              <a:cs typeface="Horizon"/>
              <a:sym typeface="Horizon"/>
            </a:endParaRPr>
          </a:p>
        </p:txBody>
      </p:sp>
      <p:sp>
        <p:nvSpPr>
          <p:cNvPr id="3" name="TextBox 2"/>
          <p:cNvSpPr txBox="1"/>
          <p:nvPr/>
        </p:nvSpPr>
        <p:spPr>
          <a:xfrm>
            <a:off x="152400" y="2247900"/>
            <a:ext cx="17983200" cy="7201972"/>
          </a:xfrm>
          <a:prstGeom prst="rect">
            <a:avLst/>
          </a:prstGeom>
          <a:noFill/>
        </p:spPr>
        <p:txBody>
          <a:bodyPr wrap="square" rtlCol="0">
            <a:spAutoFit/>
          </a:bodyPr>
          <a:lstStyle/>
          <a:p>
            <a:pPr marL="285750" indent="-285750">
              <a:lnSpc>
                <a:spcPct val="150000"/>
              </a:lnSpc>
              <a:buFont typeface="Wingdings" pitchFamily="2" charset="2"/>
              <a:buChar char="q"/>
            </a:pPr>
            <a:r>
              <a:rPr lang="en-US" sz="2800" b="1" dirty="0">
                <a:solidFill>
                  <a:schemeClr val="bg2"/>
                </a:solidFill>
                <a:latin typeface="Arial" pitchFamily="34" charset="0"/>
                <a:cs typeface="Arial" pitchFamily="34" charset="0"/>
              </a:rPr>
              <a:t>Manufacture </a:t>
            </a:r>
            <a:r>
              <a:rPr lang="en-US" sz="2800" b="1" dirty="0" err="1">
                <a:solidFill>
                  <a:schemeClr val="bg2"/>
                </a:solidFill>
                <a:latin typeface="Arial" pitchFamily="34" charset="0"/>
                <a:cs typeface="Arial" pitchFamily="34" charset="0"/>
              </a:rPr>
              <a:t>Qty</a:t>
            </a:r>
            <a:r>
              <a:rPr lang="en-US" sz="2800" b="1" dirty="0">
                <a:solidFill>
                  <a:schemeClr val="bg2"/>
                </a:solidFill>
                <a:latin typeface="Arial" pitchFamily="34" charset="0"/>
                <a:cs typeface="Arial" pitchFamily="34" charset="0"/>
              </a:rPr>
              <a:t>:</a:t>
            </a:r>
            <a:r>
              <a:rPr lang="en-US" sz="2800" dirty="0">
                <a:solidFill>
                  <a:schemeClr val="bg2"/>
                </a:solidFill>
                <a:latin typeface="Arial" pitchFamily="34" charset="0"/>
                <a:cs typeface="Arial" pitchFamily="34" charset="0"/>
              </a:rPr>
              <a:t> Total quantity of items produced within a given timeframe. </a:t>
            </a:r>
            <a:endParaRPr lang="en-US" sz="2800" dirty="0" smtClean="0">
              <a:solidFill>
                <a:schemeClr val="bg2"/>
              </a:solidFill>
              <a:latin typeface="Arial" pitchFamily="34" charset="0"/>
              <a:cs typeface="Arial" pitchFamily="34" charset="0"/>
            </a:endParaRPr>
          </a:p>
          <a:p>
            <a:pPr marL="285750" indent="-285750">
              <a:lnSpc>
                <a:spcPct val="150000"/>
              </a:lnSpc>
              <a:buFont typeface="Wingdings" pitchFamily="2" charset="2"/>
              <a:buChar char="q"/>
            </a:pPr>
            <a:r>
              <a:rPr lang="en-US" sz="2800" b="1" dirty="0" smtClean="0">
                <a:solidFill>
                  <a:schemeClr val="bg2"/>
                </a:solidFill>
                <a:latin typeface="Arial" pitchFamily="34" charset="0"/>
                <a:cs typeface="Arial" pitchFamily="34" charset="0"/>
              </a:rPr>
              <a:t>Rejected </a:t>
            </a:r>
            <a:r>
              <a:rPr lang="en-US" sz="2800" b="1" dirty="0" err="1">
                <a:solidFill>
                  <a:schemeClr val="bg2"/>
                </a:solidFill>
                <a:latin typeface="Arial" pitchFamily="34" charset="0"/>
                <a:cs typeface="Arial" pitchFamily="34" charset="0"/>
              </a:rPr>
              <a:t>Qty</a:t>
            </a:r>
            <a:r>
              <a:rPr lang="en-US" sz="2800" b="1" dirty="0">
                <a:solidFill>
                  <a:schemeClr val="bg2"/>
                </a:solidFill>
                <a:latin typeface="Arial" pitchFamily="34" charset="0"/>
                <a:cs typeface="Arial" pitchFamily="34" charset="0"/>
              </a:rPr>
              <a:t>:</a:t>
            </a:r>
            <a:r>
              <a:rPr lang="en-US" sz="2800" dirty="0">
                <a:solidFill>
                  <a:schemeClr val="bg2"/>
                </a:solidFill>
                <a:latin typeface="Arial" pitchFamily="34" charset="0"/>
                <a:cs typeface="Arial" pitchFamily="34" charset="0"/>
              </a:rPr>
              <a:t> Number of units that failed quality checks and were rejected. </a:t>
            </a:r>
            <a:endParaRPr lang="en-US" sz="2800" dirty="0" smtClean="0">
              <a:solidFill>
                <a:schemeClr val="bg2"/>
              </a:solidFill>
              <a:latin typeface="Arial" pitchFamily="34" charset="0"/>
              <a:cs typeface="Arial" pitchFamily="34" charset="0"/>
            </a:endParaRPr>
          </a:p>
          <a:p>
            <a:pPr marL="285750" indent="-285750">
              <a:lnSpc>
                <a:spcPct val="150000"/>
              </a:lnSpc>
              <a:buFont typeface="Wingdings" pitchFamily="2" charset="2"/>
              <a:buChar char="q"/>
            </a:pPr>
            <a:r>
              <a:rPr lang="en-US" sz="2800" b="1" dirty="0" smtClean="0">
                <a:solidFill>
                  <a:schemeClr val="bg2"/>
                </a:solidFill>
                <a:latin typeface="Arial" pitchFamily="34" charset="0"/>
                <a:cs typeface="Arial" pitchFamily="34" charset="0"/>
              </a:rPr>
              <a:t>Processed </a:t>
            </a:r>
            <a:r>
              <a:rPr lang="en-US" sz="2800" b="1" dirty="0" err="1">
                <a:solidFill>
                  <a:schemeClr val="bg2"/>
                </a:solidFill>
                <a:latin typeface="Arial" pitchFamily="34" charset="0"/>
                <a:cs typeface="Arial" pitchFamily="34" charset="0"/>
              </a:rPr>
              <a:t>Qty</a:t>
            </a:r>
            <a:r>
              <a:rPr lang="en-US" sz="2800" b="1" dirty="0">
                <a:solidFill>
                  <a:schemeClr val="bg2"/>
                </a:solidFill>
                <a:latin typeface="Arial" pitchFamily="34" charset="0"/>
                <a:cs typeface="Arial" pitchFamily="34" charset="0"/>
              </a:rPr>
              <a:t>:</a:t>
            </a:r>
            <a:r>
              <a:rPr lang="en-US" sz="2800" dirty="0">
                <a:solidFill>
                  <a:schemeClr val="bg2"/>
                </a:solidFill>
                <a:latin typeface="Arial" pitchFamily="34" charset="0"/>
                <a:cs typeface="Arial" pitchFamily="34" charset="0"/>
              </a:rPr>
              <a:t> Quantity of items that completed specific manufacturing stages. </a:t>
            </a:r>
            <a:endParaRPr lang="en-US" sz="2800" dirty="0" smtClean="0">
              <a:solidFill>
                <a:schemeClr val="bg2"/>
              </a:solidFill>
              <a:latin typeface="Arial" pitchFamily="34" charset="0"/>
              <a:cs typeface="Arial" pitchFamily="34" charset="0"/>
            </a:endParaRPr>
          </a:p>
          <a:p>
            <a:pPr marL="285750" indent="-285750">
              <a:lnSpc>
                <a:spcPct val="150000"/>
              </a:lnSpc>
              <a:buFont typeface="Wingdings" pitchFamily="2" charset="2"/>
              <a:buChar char="q"/>
            </a:pPr>
            <a:r>
              <a:rPr lang="en-US" sz="2800" b="1" dirty="0" smtClean="0">
                <a:solidFill>
                  <a:schemeClr val="bg2"/>
                </a:solidFill>
                <a:latin typeface="Arial" pitchFamily="34" charset="0"/>
                <a:cs typeface="Arial" pitchFamily="34" charset="0"/>
              </a:rPr>
              <a:t>Wastage </a:t>
            </a:r>
            <a:r>
              <a:rPr lang="en-US" sz="2800" b="1" dirty="0" err="1">
                <a:solidFill>
                  <a:schemeClr val="bg2"/>
                </a:solidFill>
                <a:latin typeface="Arial" pitchFamily="34" charset="0"/>
                <a:cs typeface="Arial" pitchFamily="34" charset="0"/>
              </a:rPr>
              <a:t>Qty</a:t>
            </a:r>
            <a:r>
              <a:rPr lang="en-US" sz="2800" b="1" dirty="0">
                <a:solidFill>
                  <a:schemeClr val="bg2"/>
                </a:solidFill>
                <a:latin typeface="Arial" pitchFamily="34" charset="0"/>
                <a:cs typeface="Arial" pitchFamily="34" charset="0"/>
              </a:rPr>
              <a:t>:</a:t>
            </a:r>
            <a:r>
              <a:rPr lang="en-US" sz="2800" dirty="0">
                <a:solidFill>
                  <a:schemeClr val="bg2"/>
                </a:solidFill>
                <a:latin typeface="Arial" pitchFamily="34" charset="0"/>
                <a:cs typeface="Arial" pitchFamily="34" charset="0"/>
              </a:rPr>
              <a:t> Materials or items lost during the production process. </a:t>
            </a:r>
            <a:endParaRPr lang="en-US" sz="2800" dirty="0" smtClean="0">
              <a:solidFill>
                <a:schemeClr val="bg2"/>
              </a:solidFill>
              <a:latin typeface="Arial" pitchFamily="34" charset="0"/>
              <a:cs typeface="Arial" pitchFamily="34" charset="0"/>
            </a:endParaRPr>
          </a:p>
          <a:p>
            <a:pPr marL="285750" indent="-285750">
              <a:lnSpc>
                <a:spcPct val="150000"/>
              </a:lnSpc>
              <a:buFont typeface="Wingdings" pitchFamily="2" charset="2"/>
              <a:buChar char="q"/>
            </a:pPr>
            <a:r>
              <a:rPr lang="en-US" sz="2800" b="1" dirty="0" smtClean="0">
                <a:solidFill>
                  <a:schemeClr val="bg2"/>
                </a:solidFill>
                <a:latin typeface="Arial" pitchFamily="34" charset="0"/>
                <a:cs typeface="Arial" pitchFamily="34" charset="0"/>
              </a:rPr>
              <a:t>Employee </a:t>
            </a:r>
            <a:r>
              <a:rPr lang="en-US" sz="2800" b="1" dirty="0">
                <a:solidFill>
                  <a:schemeClr val="bg2"/>
                </a:solidFill>
                <a:latin typeface="Arial" pitchFamily="34" charset="0"/>
                <a:cs typeface="Arial" pitchFamily="34" charset="0"/>
              </a:rPr>
              <a:t>Wise Rejected </a:t>
            </a:r>
            <a:r>
              <a:rPr lang="en-US" sz="2800" b="1" dirty="0" err="1">
                <a:solidFill>
                  <a:schemeClr val="bg2"/>
                </a:solidFill>
                <a:latin typeface="Arial" pitchFamily="34" charset="0"/>
                <a:cs typeface="Arial" pitchFamily="34" charset="0"/>
              </a:rPr>
              <a:t>Qty</a:t>
            </a:r>
            <a:r>
              <a:rPr lang="en-US" sz="2800" b="1" dirty="0">
                <a:solidFill>
                  <a:schemeClr val="bg2"/>
                </a:solidFill>
                <a:latin typeface="Arial" pitchFamily="34" charset="0"/>
                <a:cs typeface="Arial" pitchFamily="34" charset="0"/>
              </a:rPr>
              <a:t>:</a:t>
            </a:r>
            <a:r>
              <a:rPr lang="en-US" sz="2800" dirty="0">
                <a:solidFill>
                  <a:schemeClr val="bg2"/>
                </a:solidFill>
                <a:latin typeface="Arial" pitchFamily="34" charset="0"/>
                <a:cs typeface="Arial" pitchFamily="34" charset="0"/>
              </a:rPr>
              <a:t> Rejection count attributed to individual employees for accountability and training</a:t>
            </a:r>
            <a:r>
              <a:rPr lang="en-US" sz="2800" dirty="0" smtClean="0">
                <a:solidFill>
                  <a:schemeClr val="bg2"/>
                </a:solidFill>
                <a:latin typeface="Arial" pitchFamily="34" charset="0"/>
                <a:cs typeface="Arial" pitchFamily="34" charset="0"/>
              </a:rPr>
              <a:t>.</a:t>
            </a:r>
          </a:p>
          <a:p>
            <a:pPr marL="285750" indent="-285750">
              <a:lnSpc>
                <a:spcPct val="150000"/>
              </a:lnSpc>
              <a:buFont typeface="Wingdings" pitchFamily="2" charset="2"/>
              <a:buChar char="q"/>
            </a:pPr>
            <a:r>
              <a:rPr lang="en-US" sz="2800" dirty="0" smtClean="0">
                <a:solidFill>
                  <a:schemeClr val="bg2"/>
                </a:solidFill>
                <a:latin typeface="Arial" pitchFamily="34" charset="0"/>
                <a:cs typeface="Arial" pitchFamily="34" charset="0"/>
              </a:rPr>
              <a:t> </a:t>
            </a:r>
            <a:r>
              <a:rPr lang="en-US" sz="2800" b="1" dirty="0">
                <a:solidFill>
                  <a:schemeClr val="bg2"/>
                </a:solidFill>
                <a:latin typeface="Arial" pitchFamily="34" charset="0"/>
                <a:cs typeface="Arial" pitchFamily="34" charset="0"/>
              </a:rPr>
              <a:t>Machine Wise Rejected </a:t>
            </a:r>
            <a:r>
              <a:rPr lang="en-US" sz="2800" b="1" dirty="0" err="1">
                <a:solidFill>
                  <a:schemeClr val="bg2"/>
                </a:solidFill>
                <a:latin typeface="Arial" pitchFamily="34" charset="0"/>
                <a:cs typeface="Arial" pitchFamily="34" charset="0"/>
              </a:rPr>
              <a:t>Qty</a:t>
            </a:r>
            <a:r>
              <a:rPr lang="en-US" sz="2800" b="1" dirty="0">
                <a:solidFill>
                  <a:schemeClr val="bg2"/>
                </a:solidFill>
                <a:latin typeface="Arial" pitchFamily="34" charset="0"/>
                <a:cs typeface="Arial" pitchFamily="34" charset="0"/>
              </a:rPr>
              <a:t>:</a:t>
            </a:r>
            <a:r>
              <a:rPr lang="en-US" sz="2800" dirty="0">
                <a:solidFill>
                  <a:schemeClr val="bg2"/>
                </a:solidFill>
                <a:latin typeface="Arial" pitchFamily="34" charset="0"/>
                <a:cs typeface="Arial" pitchFamily="34" charset="0"/>
              </a:rPr>
              <a:t> Tracks machine-specific rejections to identify underperforming equipment. </a:t>
            </a:r>
            <a:endParaRPr lang="en-US" sz="2800" dirty="0" smtClean="0">
              <a:solidFill>
                <a:schemeClr val="bg2"/>
              </a:solidFill>
              <a:latin typeface="Arial" pitchFamily="34" charset="0"/>
              <a:cs typeface="Arial" pitchFamily="34" charset="0"/>
            </a:endParaRPr>
          </a:p>
          <a:p>
            <a:pPr marL="285750" indent="-285750">
              <a:lnSpc>
                <a:spcPct val="150000"/>
              </a:lnSpc>
              <a:buFont typeface="Wingdings" pitchFamily="2" charset="2"/>
              <a:buChar char="q"/>
            </a:pPr>
            <a:r>
              <a:rPr lang="en-US" sz="2800" b="1" dirty="0" smtClean="0">
                <a:solidFill>
                  <a:schemeClr val="bg2"/>
                </a:solidFill>
                <a:latin typeface="Arial" pitchFamily="34" charset="0"/>
                <a:cs typeface="Arial" pitchFamily="34" charset="0"/>
              </a:rPr>
              <a:t>Production </a:t>
            </a:r>
            <a:r>
              <a:rPr lang="en-US" sz="2800" b="1" dirty="0">
                <a:solidFill>
                  <a:schemeClr val="bg2"/>
                </a:solidFill>
                <a:latin typeface="Arial" pitchFamily="34" charset="0"/>
                <a:cs typeface="Arial" pitchFamily="34" charset="0"/>
              </a:rPr>
              <a:t>Comparison Trend:</a:t>
            </a:r>
            <a:r>
              <a:rPr lang="en-US" sz="2800" dirty="0">
                <a:solidFill>
                  <a:schemeClr val="bg2"/>
                </a:solidFill>
                <a:latin typeface="Arial" pitchFamily="34" charset="0"/>
                <a:cs typeface="Arial" pitchFamily="34" charset="0"/>
              </a:rPr>
              <a:t> Visual trends of production over time to analyze performance patterns. </a:t>
            </a:r>
            <a:endParaRPr lang="en-US" sz="2800" dirty="0" smtClean="0">
              <a:solidFill>
                <a:schemeClr val="bg2"/>
              </a:solidFill>
              <a:latin typeface="Arial" pitchFamily="34" charset="0"/>
              <a:cs typeface="Arial" pitchFamily="34" charset="0"/>
            </a:endParaRPr>
          </a:p>
          <a:p>
            <a:pPr marL="285750" indent="-285750">
              <a:lnSpc>
                <a:spcPct val="150000"/>
              </a:lnSpc>
              <a:buFont typeface="Wingdings" pitchFamily="2" charset="2"/>
              <a:buChar char="q"/>
            </a:pPr>
            <a:r>
              <a:rPr lang="en-US" sz="2800" b="1" dirty="0" smtClean="0">
                <a:solidFill>
                  <a:schemeClr val="bg2"/>
                </a:solidFill>
                <a:latin typeface="Arial" pitchFamily="34" charset="0"/>
                <a:cs typeface="Arial" pitchFamily="34" charset="0"/>
              </a:rPr>
              <a:t>Manufacture </a:t>
            </a:r>
            <a:r>
              <a:rPr lang="en-US" sz="2800" b="1" dirty="0" err="1">
                <a:solidFill>
                  <a:schemeClr val="bg2"/>
                </a:solidFill>
                <a:latin typeface="Arial" pitchFamily="34" charset="0"/>
                <a:cs typeface="Arial" pitchFamily="34" charset="0"/>
              </a:rPr>
              <a:t>Vs</a:t>
            </a:r>
            <a:r>
              <a:rPr lang="en-US" sz="2800" b="1" dirty="0">
                <a:solidFill>
                  <a:schemeClr val="bg2"/>
                </a:solidFill>
                <a:latin typeface="Arial" pitchFamily="34" charset="0"/>
                <a:cs typeface="Arial" pitchFamily="34" charset="0"/>
              </a:rPr>
              <a:t> Rejected:</a:t>
            </a:r>
            <a:r>
              <a:rPr lang="en-US" sz="2800" dirty="0">
                <a:solidFill>
                  <a:schemeClr val="bg2"/>
                </a:solidFill>
                <a:latin typeface="Arial" pitchFamily="34" charset="0"/>
                <a:cs typeface="Arial" pitchFamily="34" charset="0"/>
              </a:rPr>
              <a:t> Direct comparison of produced and rejected quantities to assess quality ratios. </a:t>
            </a:r>
            <a:endParaRPr lang="en-US" sz="2800" dirty="0" smtClean="0">
              <a:solidFill>
                <a:schemeClr val="bg2"/>
              </a:solidFill>
              <a:latin typeface="Arial" pitchFamily="34" charset="0"/>
              <a:cs typeface="Arial" pitchFamily="34" charset="0"/>
            </a:endParaRPr>
          </a:p>
          <a:p>
            <a:pPr marL="285750" indent="-285750">
              <a:lnSpc>
                <a:spcPct val="150000"/>
              </a:lnSpc>
              <a:buFont typeface="Wingdings" pitchFamily="2" charset="2"/>
              <a:buChar char="q"/>
            </a:pPr>
            <a:r>
              <a:rPr lang="en-US" sz="2800" b="1" dirty="0" smtClean="0">
                <a:solidFill>
                  <a:schemeClr val="bg2"/>
                </a:solidFill>
                <a:latin typeface="Arial" pitchFamily="34" charset="0"/>
                <a:cs typeface="Arial" pitchFamily="34" charset="0"/>
              </a:rPr>
              <a:t>Department </a:t>
            </a:r>
            <a:r>
              <a:rPr lang="en-US" sz="2800" b="1" dirty="0">
                <a:solidFill>
                  <a:schemeClr val="bg2"/>
                </a:solidFill>
                <a:latin typeface="Arial" pitchFamily="34" charset="0"/>
                <a:cs typeface="Arial" pitchFamily="34" charset="0"/>
              </a:rPr>
              <a:t>Wise Manufacture </a:t>
            </a:r>
            <a:r>
              <a:rPr lang="en-US" sz="2800" b="1" dirty="0" err="1">
                <a:solidFill>
                  <a:schemeClr val="bg2"/>
                </a:solidFill>
                <a:latin typeface="Arial" pitchFamily="34" charset="0"/>
                <a:cs typeface="Arial" pitchFamily="34" charset="0"/>
              </a:rPr>
              <a:t>Vs</a:t>
            </a:r>
            <a:r>
              <a:rPr lang="en-US" sz="2800" b="1" dirty="0">
                <a:solidFill>
                  <a:schemeClr val="bg2"/>
                </a:solidFill>
                <a:latin typeface="Arial" pitchFamily="34" charset="0"/>
                <a:cs typeface="Arial" pitchFamily="34" charset="0"/>
              </a:rPr>
              <a:t> Rejected:</a:t>
            </a:r>
            <a:r>
              <a:rPr lang="en-US" sz="2800" dirty="0">
                <a:solidFill>
                  <a:schemeClr val="bg2"/>
                </a:solidFill>
                <a:latin typeface="Arial" pitchFamily="34" charset="0"/>
                <a:cs typeface="Arial" pitchFamily="34" charset="0"/>
              </a:rPr>
              <a:t> Department-level breakdown of production versus rejection to identify area-specific issues.</a:t>
            </a:r>
            <a:endParaRPr lang="en-IN" sz="2800" dirty="0">
              <a:solidFill>
                <a:schemeClr val="bg2"/>
              </a:solidFill>
              <a:latin typeface="Arial" pitchFamily="34" charset="0"/>
              <a:cs typeface="Arial"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535150" y="518815"/>
            <a:ext cx="3448050" cy="509885"/>
          </a:xfrm>
          <a:prstGeom prst="rect">
            <a:avLst/>
          </a:prstGeom>
        </p:spPr>
      </p:pic>
    </p:spTree>
    <p:extLst>
      <p:ext uri="{BB962C8B-B14F-4D97-AF65-F5344CB8AC3E}">
        <p14:creationId xmlns:p14="http://schemas.microsoft.com/office/powerpoint/2010/main" val="1270099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348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Page 01</a:t>
            </a:r>
          </a:p>
        </p:txBody>
      </p:sp>
      <p:sp>
        <p:nvSpPr>
          <p:cNvPr id="8" name="TextBox 9"/>
          <p:cNvSpPr txBox="1"/>
          <p:nvPr/>
        </p:nvSpPr>
        <p:spPr>
          <a:xfrm>
            <a:off x="47130" y="217169"/>
            <a:ext cx="18135600" cy="833562"/>
          </a:xfrm>
          <a:prstGeom prst="rect">
            <a:avLst/>
          </a:prstGeom>
        </p:spPr>
        <p:txBody>
          <a:bodyPr wrap="square" lIns="0" tIns="0" rIns="0" bIns="0" rtlCol="0" anchor="t">
            <a:spAutoFit/>
          </a:bodyPr>
          <a:lstStyle/>
          <a:p>
            <a:pPr algn="l">
              <a:lnSpc>
                <a:spcPts val="6480"/>
              </a:lnSpc>
            </a:pPr>
            <a:r>
              <a:rPr lang="en-US" sz="4800" dirty="0" smtClean="0">
                <a:solidFill>
                  <a:srgbClr val="FFFFFF"/>
                </a:solidFill>
                <a:latin typeface="Horizon"/>
                <a:ea typeface="Horizon"/>
                <a:cs typeface="Horizon"/>
                <a:sym typeface="Horizon"/>
              </a:rPr>
              <a:t>  KPIs </a:t>
            </a:r>
            <a:r>
              <a:rPr lang="en-US" sz="4800" dirty="0" err="1" smtClean="0">
                <a:solidFill>
                  <a:srgbClr val="FFFFFF"/>
                </a:solidFill>
                <a:latin typeface="Horizon"/>
                <a:ea typeface="Horizon"/>
                <a:cs typeface="Horizon"/>
                <a:sym typeface="Horizon"/>
              </a:rPr>
              <a:t>Explaination</a:t>
            </a:r>
            <a:endParaRPr lang="en-US" sz="4800" dirty="0">
              <a:solidFill>
                <a:srgbClr val="FFFFFF"/>
              </a:solidFill>
              <a:latin typeface="Horizon"/>
              <a:ea typeface="Horizon"/>
              <a:cs typeface="Horizon"/>
              <a:sym typeface="Horizon"/>
            </a:endParaRPr>
          </a:p>
        </p:txBody>
      </p:sp>
      <p:sp>
        <p:nvSpPr>
          <p:cNvPr id="11" name="TextBox 6"/>
          <p:cNvSpPr txBox="1"/>
          <p:nvPr/>
        </p:nvSpPr>
        <p:spPr>
          <a:xfrm>
            <a:off x="1078340" y="2518249"/>
            <a:ext cx="7592831" cy="120032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SUM(Manufactured Qty)</a:t>
            </a:r>
          </a:p>
          <a:p>
            <a:r>
              <a:rPr lang="en-US" dirty="0"/>
              <a:t/>
            </a:r>
            <a:br>
              <a:rPr lang="en-US" dirty="0"/>
            </a:br>
            <a:r>
              <a:rPr lang="en-US" dirty="0"/>
              <a:t/>
            </a:r>
            <a:br>
              <a:rPr lang="en-US" dirty="0"/>
            </a:br>
            <a:endParaRPr lang="en-US" dirty="0"/>
          </a:p>
        </p:txBody>
      </p:sp>
      <p:sp>
        <p:nvSpPr>
          <p:cNvPr id="12" name="TextBox 8"/>
          <p:cNvSpPr txBox="1"/>
          <p:nvPr/>
        </p:nvSpPr>
        <p:spPr>
          <a:xfrm>
            <a:off x="953978" y="4998113"/>
            <a:ext cx="6548096"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      Rejected Quantity</a:t>
            </a:r>
            <a:endParaRPr lang="en-US" dirty="0">
              <a:solidFill>
                <a:schemeClr val="lt1"/>
              </a:solidFill>
            </a:endParaRPr>
          </a:p>
          <a:p>
            <a:r>
              <a:rPr lang="en-US" dirty="0"/>
              <a:t>       SUM(Rejected Qty)</a:t>
            </a:r>
          </a:p>
          <a:p>
            <a:r>
              <a:rPr lang="en-US" dirty="0"/>
              <a:t> </a:t>
            </a:r>
          </a:p>
        </p:txBody>
      </p:sp>
      <p:sp>
        <p:nvSpPr>
          <p:cNvPr id="18" name="TextBox 25"/>
          <p:cNvSpPr txBox="1"/>
          <p:nvPr/>
        </p:nvSpPr>
        <p:spPr>
          <a:xfrm>
            <a:off x="6498449" y="4919018"/>
            <a:ext cx="6171661"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Wastage Quantity</a:t>
            </a:r>
            <a:endParaRPr lang="en-US" dirty="0">
              <a:solidFill>
                <a:schemeClr val="lt1"/>
              </a:solidFill>
            </a:endParaRPr>
          </a:p>
          <a:p>
            <a:r>
              <a:rPr lang="en-US" dirty="0"/>
              <a:t>SUM(R Qty/Sum(P Qty)</a:t>
            </a:r>
          </a:p>
          <a:p>
            <a:endParaRPr lang="en-US" dirty="0"/>
          </a:p>
        </p:txBody>
      </p:sp>
      <p:grpSp>
        <p:nvGrpSpPr>
          <p:cNvPr id="35" name="Group 34"/>
          <p:cNvGrpSpPr/>
          <p:nvPr/>
        </p:nvGrpSpPr>
        <p:grpSpPr>
          <a:xfrm>
            <a:off x="410446" y="1573551"/>
            <a:ext cx="7865691" cy="3202074"/>
            <a:chOff x="394566" y="1650332"/>
            <a:chExt cx="5181600" cy="2877243"/>
          </a:xfrm>
        </p:grpSpPr>
        <p:sp>
          <p:nvSpPr>
            <p:cNvPr id="26" name="Rounded Rectangle 25"/>
            <p:cNvSpPr/>
            <p:nvPr/>
          </p:nvSpPr>
          <p:spPr>
            <a:xfrm>
              <a:off x="394566" y="1650332"/>
              <a:ext cx="5181600" cy="277629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25" name="TextBox 24"/>
            <p:cNvSpPr txBox="1"/>
            <p:nvPr/>
          </p:nvSpPr>
          <p:spPr>
            <a:xfrm>
              <a:off x="646722" y="1817340"/>
              <a:ext cx="4648200" cy="2710235"/>
            </a:xfrm>
            <a:prstGeom prst="rect">
              <a:avLst/>
            </a:prstGeom>
            <a:noFill/>
          </p:spPr>
          <p:txBody>
            <a:bodyPr wrap="square" rtlCol="0">
              <a:spAutoFit/>
            </a:bodyPr>
            <a:lstStyle/>
            <a:p>
              <a:r>
                <a:rPr lang="en-US" sz="2800" b="1" dirty="0"/>
                <a:t>Manufacture </a:t>
              </a:r>
              <a:r>
                <a:rPr lang="en-US" sz="2800" b="1" dirty="0" err="1"/>
                <a:t>QuantitySUM</a:t>
              </a:r>
              <a:r>
                <a:rPr lang="en-US" sz="2800" b="1" dirty="0"/>
                <a:t>(</a:t>
              </a:r>
              <a:r>
                <a:rPr lang="en-US" sz="2800" b="1" dirty="0" err="1"/>
                <a:t>M_Qty</a:t>
              </a:r>
              <a:r>
                <a:rPr lang="en-US" sz="2800" b="1" dirty="0" smtClean="0"/>
                <a:t>)</a:t>
              </a:r>
            </a:p>
            <a:p>
              <a:r>
                <a:rPr lang="en-US" sz="2400" dirty="0" smtClean="0"/>
                <a:t>Total </a:t>
              </a:r>
              <a:r>
                <a:rPr lang="en-US" sz="2400" dirty="0"/>
                <a:t>units produced within a given timeframe. It measures the gross capacity utilization and operational scale of the facility</a:t>
              </a:r>
              <a:r>
                <a:rPr lang="en-US" sz="2400" dirty="0" smtClean="0"/>
                <a:t>.</a:t>
              </a:r>
            </a:p>
            <a:p>
              <a:pPr marL="342900" indent="-342900">
                <a:buFont typeface="Arial" charset="0"/>
                <a:buChar char="•"/>
              </a:pPr>
              <a:r>
                <a:rPr lang="en-US" sz="2400" dirty="0" smtClean="0"/>
                <a:t>Helps </a:t>
              </a:r>
              <a:r>
                <a:rPr lang="en-US" sz="2400" dirty="0"/>
                <a:t>in capacity planning and machine </a:t>
              </a:r>
              <a:r>
                <a:rPr lang="en-US" sz="2400" dirty="0" smtClean="0"/>
                <a:t>utilization</a:t>
              </a:r>
            </a:p>
            <a:p>
              <a:pPr marL="342900" indent="-342900">
                <a:buFont typeface="Arial" charset="0"/>
                <a:buChar char="•"/>
              </a:pPr>
              <a:r>
                <a:rPr lang="en-US" sz="2400" dirty="0" smtClean="0"/>
                <a:t>Supports </a:t>
              </a:r>
              <a:r>
                <a:rPr lang="en-US" sz="2400" dirty="0"/>
                <a:t>demand </a:t>
              </a:r>
              <a:r>
                <a:rPr lang="en-US" sz="2400" dirty="0" err="1"/>
                <a:t>vs</a:t>
              </a:r>
              <a:r>
                <a:rPr lang="en-US" sz="2400" dirty="0"/>
                <a:t> production </a:t>
              </a:r>
              <a:r>
                <a:rPr lang="en-US" sz="2400" dirty="0" smtClean="0"/>
                <a:t>decisions</a:t>
              </a:r>
            </a:p>
            <a:p>
              <a:pPr marL="342900" indent="-342900">
                <a:buFont typeface="Arial" charset="0"/>
                <a:buChar char="•"/>
              </a:pPr>
              <a:r>
                <a:rPr lang="en-US" sz="2400" dirty="0" smtClean="0"/>
                <a:t>Helps </a:t>
              </a:r>
              <a:r>
                <a:rPr lang="en-US" sz="2400" dirty="0"/>
                <a:t>reduce under/over production costs</a:t>
              </a:r>
            </a:p>
            <a:p>
              <a:endParaRPr lang="en-IN" dirty="0"/>
            </a:p>
          </p:txBody>
        </p:sp>
      </p:grpSp>
      <p:grpSp>
        <p:nvGrpSpPr>
          <p:cNvPr id="34" name="Group 33"/>
          <p:cNvGrpSpPr/>
          <p:nvPr/>
        </p:nvGrpSpPr>
        <p:grpSpPr>
          <a:xfrm>
            <a:off x="8915399" y="1494201"/>
            <a:ext cx="8543430" cy="3169075"/>
            <a:chOff x="6629400" y="2467721"/>
            <a:chExt cx="5181600" cy="2776291"/>
          </a:xfrm>
        </p:grpSpPr>
        <p:sp>
          <p:nvSpPr>
            <p:cNvPr id="27" name="Rounded Rectangle 26"/>
            <p:cNvSpPr/>
            <p:nvPr/>
          </p:nvSpPr>
          <p:spPr>
            <a:xfrm>
              <a:off x="6629400" y="2467721"/>
              <a:ext cx="5181600" cy="277629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29" name="TextBox 28"/>
            <p:cNvSpPr txBox="1"/>
            <p:nvPr/>
          </p:nvSpPr>
          <p:spPr>
            <a:xfrm>
              <a:off x="6896100" y="2641813"/>
              <a:ext cx="4648200" cy="1968037"/>
            </a:xfrm>
            <a:prstGeom prst="rect">
              <a:avLst/>
            </a:prstGeom>
            <a:noFill/>
          </p:spPr>
          <p:txBody>
            <a:bodyPr wrap="square" rtlCol="0">
              <a:spAutoFit/>
            </a:bodyPr>
            <a:lstStyle/>
            <a:p>
              <a:r>
                <a:rPr lang="en-US" sz="2800" b="1" dirty="0"/>
                <a:t>Rejected </a:t>
              </a:r>
              <a:r>
                <a:rPr lang="en-US" sz="2800" b="1" dirty="0" err="1"/>
                <a:t>QuantitySUM</a:t>
              </a:r>
              <a:r>
                <a:rPr lang="en-US" sz="2800" b="1" dirty="0"/>
                <a:t>(</a:t>
              </a:r>
              <a:r>
                <a:rPr lang="en-US" sz="2800" b="1" dirty="0" err="1"/>
                <a:t>R_Qty</a:t>
              </a:r>
              <a:r>
                <a:rPr lang="en-US" sz="2800" b="1" dirty="0" smtClean="0"/>
                <a:t>)</a:t>
              </a:r>
            </a:p>
            <a:p>
              <a:r>
                <a:rPr lang="en-US" sz="2400" dirty="0" smtClean="0"/>
                <a:t>Total </a:t>
              </a:r>
              <a:r>
                <a:rPr lang="en-US" sz="2400" dirty="0"/>
                <a:t>items failing quality checks. Essential for identifying machine malfunctions or batch errors before delivery</a:t>
              </a:r>
              <a:r>
                <a:rPr lang="en-US" sz="2400" dirty="0" smtClean="0"/>
                <a:t>.</a:t>
              </a:r>
            </a:p>
            <a:p>
              <a:pPr marL="342900" indent="-342900">
                <a:buFont typeface="Arial" charset="0"/>
                <a:buChar char="•"/>
              </a:pPr>
              <a:r>
                <a:rPr lang="en-US" sz="2400" dirty="0" smtClean="0"/>
                <a:t>Identifies </a:t>
              </a:r>
              <a:r>
                <a:rPr lang="en-US" sz="2400" dirty="0"/>
                <a:t>quality issues &amp; machine </a:t>
              </a:r>
              <a:r>
                <a:rPr lang="en-US" sz="2400" dirty="0" smtClean="0"/>
                <a:t>failures</a:t>
              </a:r>
            </a:p>
            <a:p>
              <a:pPr marL="342900" indent="-342900">
                <a:buFont typeface="Arial" charset="0"/>
                <a:buChar char="•"/>
              </a:pPr>
              <a:r>
                <a:rPr lang="en-US" sz="2400" dirty="0" smtClean="0"/>
                <a:t>Helps </a:t>
              </a:r>
              <a:r>
                <a:rPr lang="en-US" sz="2400" dirty="0"/>
                <a:t>in supplier/vendor </a:t>
              </a:r>
              <a:r>
                <a:rPr lang="en-US" sz="2400" dirty="0" smtClean="0"/>
                <a:t>decisions</a:t>
              </a:r>
            </a:p>
            <a:p>
              <a:pPr marL="342900" indent="-342900">
                <a:buFont typeface="Arial" charset="0"/>
                <a:buChar char="•"/>
              </a:pPr>
              <a:r>
                <a:rPr lang="en-US" sz="2400" dirty="0" smtClean="0"/>
                <a:t> </a:t>
              </a:r>
              <a:r>
                <a:rPr lang="en-US" sz="2400" dirty="0"/>
                <a:t>Supports process improvement &amp; maintenance planning</a:t>
              </a:r>
            </a:p>
          </p:txBody>
        </p:sp>
      </p:grpSp>
      <p:grpSp>
        <p:nvGrpSpPr>
          <p:cNvPr id="33" name="Group 32"/>
          <p:cNvGrpSpPr/>
          <p:nvPr/>
        </p:nvGrpSpPr>
        <p:grpSpPr>
          <a:xfrm>
            <a:off x="9454897" y="6507695"/>
            <a:ext cx="8343900" cy="3489254"/>
            <a:chOff x="12058650" y="2311285"/>
            <a:chExt cx="5181600" cy="2776291"/>
          </a:xfrm>
        </p:grpSpPr>
        <p:sp>
          <p:nvSpPr>
            <p:cNvPr id="28" name="Rounded Rectangle 27"/>
            <p:cNvSpPr/>
            <p:nvPr/>
          </p:nvSpPr>
          <p:spPr>
            <a:xfrm>
              <a:off x="12058650" y="2311285"/>
              <a:ext cx="5181600" cy="2776291"/>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30" name="TextBox 29"/>
            <p:cNvSpPr txBox="1"/>
            <p:nvPr/>
          </p:nvSpPr>
          <p:spPr>
            <a:xfrm>
              <a:off x="12325350" y="2671645"/>
              <a:ext cx="4648200" cy="1948288"/>
            </a:xfrm>
            <a:prstGeom prst="rect">
              <a:avLst/>
            </a:prstGeom>
            <a:noFill/>
          </p:spPr>
          <p:txBody>
            <a:bodyPr wrap="square" rtlCol="0">
              <a:spAutoFit/>
            </a:bodyPr>
            <a:lstStyle/>
            <a:p>
              <a:r>
                <a:rPr lang="en-US" sz="2800" b="1" dirty="0"/>
                <a:t>Processed </a:t>
              </a:r>
              <a:r>
                <a:rPr lang="en-US" sz="2800" b="1" dirty="0" err="1"/>
                <a:t>QuantitySUM</a:t>
              </a:r>
              <a:r>
                <a:rPr lang="en-US" sz="2800" b="1" dirty="0"/>
                <a:t>(</a:t>
              </a:r>
              <a:r>
                <a:rPr lang="en-US" sz="2800" b="1" dirty="0" err="1"/>
                <a:t>M_Qty</a:t>
              </a:r>
              <a:r>
                <a:rPr lang="en-US" sz="2800" b="1" dirty="0"/>
                <a:t>) </a:t>
              </a:r>
              <a:r>
                <a:rPr lang="en-US" sz="2800" dirty="0"/>
                <a:t>- SUM(</a:t>
              </a:r>
              <a:r>
                <a:rPr lang="en-US" sz="2800" dirty="0" err="1"/>
                <a:t>R_Qty</a:t>
              </a:r>
              <a:r>
                <a:rPr lang="en-US" sz="2800" dirty="0" smtClean="0"/>
                <a:t>)</a:t>
              </a:r>
            </a:p>
            <a:p>
              <a:r>
                <a:rPr lang="en-US" sz="2400" dirty="0" smtClean="0"/>
                <a:t>Net </a:t>
              </a:r>
              <a:r>
                <a:rPr lang="en-US" sz="2400" dirty="0"/>
                <a:t>items successfully completing all manufacturing stages. Represents total saleable output ready for inventory</a:t>
              </a:r>
              <a:r>
                <a:rPr lang="en-US" sz="2400" dirty="0" smtClean="0"/>
                <a:t>.</a:t>
              </a:r>
            </a:p>
            <a:p>
              <a:pPr marL="342900" indent="-342900">
                <a:buFont typeface="Arial" charset="0"/>
                <a:buChar char="•"/>
              </a:pPr>
              <a:r>
                <a:rPr lang="en-US" sz="2400" dirty="0" smtClean="0"/>
                <a:t>Used </a:t>
              </a:r>
              <a:r>
                <a:rPr lang="en-US" sz="2400" dirty="0"/>
                <a:t>for revenue forecasting &amp; sales </a:t>
              </a:r>
              <a:r>
                <a:rPr lang="en-US" sz="2400" dirty="0" smtClean="0"/>
                <a:t>planning</a:t>
              </a:r>
            </a:p>
            <a:p>
              <a:pPr marL="342900" indent="-342900">
                <a:buFont typeface="Arial" charset="0"/>
                <a:buChar char="•"/>
              </a:pPr>
              <a:r>
                <a:rPr lang="en-US" sz="2400" dirty="0" smtClean="0"/>
                <a:t> </a:t>
              </a:r>
              <a:r>
                <a:rPr lang="en-US" sz="2400" dirty="0"/>
                <a:t>Shows actual sellable </a:t>
              </a:r>
              <a:r>
                <a:rPr lang="en-US" sz="2400" dirty="0" smtClean="0"/>
                <a:t>inventory</a:t>
              </a:r>
            </a:p>
            <a:p>
              <a:pPr marL="342900" indent="-342900">
                <a:buFont typeface="Arial" charset="0"/>
                <a:buChar char="•"/>
              </a:pPr>
              <a:r>
                <a:rPr lang="en-US" sz="2400" dirty="0" smtClean="0"/>
                <a:t>Helps </a:t>
              </a:r>
              <a:r>
                <a:rPr lang="en-US" sz="2400" dirty="0"/>
                <a:t>in delivery &amp; stock management</a:t>
              </a:r>
            </a:p>
          </p:txBody>
        </p:sp>
      </p:grpSp>
      <p:grpSp>
        <p:nvGrpSpPr>
          <p:cNvPr id="36" name="Group 35"/>
          <p:cNvGrpSpPr/>
          <p:nvPr/>
        </p:nvGrpSpPr>
        <p:grpSpPr>
          <a:xfrm>
            <a:off x="609597" y="6507695"/>
            <a:ext cx="7877953" cy="3489256"/>
            <a:chOff x="363908" y="5380683"/>
            <a:chExt cx="5063579" cy="2481764"/>
          </a:xfrm>
        </p:grpSpPr>
        <p:sp>
          <p:nvSpPr>
            <p:cNvPr id="31" name="Rounded Rectangle 30"/>
            <p:cNvSpPr/>
            <p:nvPr/>
          </p:nvSpPr>
          <p:spPr>
            <a:xfrm>
              <a:off x="363908" y="5380683"/>
              <a:ext cx="5063578" cy="248176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32" name="TextBox 31"/>
            <p:cNvSpPr txBox="1"/>
            <p:nvPr/>
          </p:nvSpPr>
          <p:spPr>
            <a:xfrm>
              <a:off x="481931" y="5694531"/>
              <a:ext cx="4945556" cy="1685598"/>
            </a:xfrm>
            <a:prstGeom prst="rect">
              <a:avLst/>
            </a:prstGeom>
            <a:noFill/>
          </p:spPr>
          <p:txBody>
            <a:bodyPr wrap="square" rtlCol="0">
              <a:spAutoFit/>
            </a:bodyPr>
            <a:lstStyle/>
            <a:p>
              <a:r>
                <a:rPr lang="en-US" sz="2800" b="1" dirty="0"/>
                <a:t>Wastage </a:t>
              </a:r>
              <a:r>
                <a:rPr lang="en-US" sz="2800" b="1" dirty="0" err="1"/>
                <a:t>QuantitySUM</a:t>
              </a:r>
              <a:r>
                <a:rPr lang="en-US" sz="2800" b="1" dirty="0"/>
                <a:t>(</a:t>
              </a:r>
              <a:r>
                <a:rPr lang="en-US" sz="2800" b="1" dirty="0" err="1"/>
                <a:t>R_Qty</a:t>
              </a:r>
              <a:r>
                <a:rPr lang="en-US" sz="2800" b="1" dirty="0"/>
                <a:t>) / </a:t>
              </a:r>
              <a:r>
                <a:rPr lang="en-US" sz="2800" b="1" dirty="0" smtClean="0"/>
                <a:t>SUM(</a:t>
              </a:r>
              <a:r>
                <a:rPr lang="en-US" sz="2800" b="1" dirty="0" err="1" smtClean="0"/>
                <a:t>P_Qty</a:t>
              </a:r>
              <a:r>
                <a:rPr lang="en-US" sz="2800" b="1" dirty="0" smtClean="0"/>
                <a:t>)</a:t>
              </a:r>
            </a:p>
            <a:p>
              <a:r>
                <a:rPr lang="en-US" sz="2400" dirty="0" smtClean="0"/>
                <a:t>Ratio </a:t>
              </a:r>
              <a:r>
                <a:rPr lang="en-US" sz="2400" dirty="0"/>
                <a:t>of lost material to net output. Monitors material efficiency and helps in reducing operational scrap overhead</a:t>
              </a:r>
              <a:r>
                <a:rPr lang="en-US" sz="2400" dirty="0" smtClean="0"/>
                <a:t>.</a:t>
              </a:r>
            </a:p>
            <a:p>
              <a:pPr marL="342900" indent="-342900">
                <a:buFont typeface="Arial" charset="0"/>
                <a:buChar char="•"/>
              </a:pPr>
              <a:r>
                <a:rPr lang="en-US" sz="2400" dirty="0" smtClean="0"/>
                <a:t>Helps </a:t>
              </a:r>
              <a:r>
                <a:rPr lang="en-US" sz="2400" dirty="0"/>
                <a:t>improve profitability &amp; cost </a:t>
              </a:r>
              <a:r>
                <a:rPr lang="en-US" sz="2400" dirty="0" smtClean="0"/>
                <a:t>control</a:t>
              </a:r>
            </a:p>
            <a:p>
              <a:pPr marL="342900" indent="-342900">
                <a:buFont typeface="Arial" charset="0"/>
                <a:buChar char="•"/>
              </a:pPr>
              <a:r>
                <a:rPr lang="en-US" sz="2400" dirty="0" smtClean="0"/>
                <a:t>Measures </a:t>
              </a:r>
              <a:r>
                <a:rPr lang="en-US" sz="2400" dirty="0"/>
                <a:t>production </a:t>
              </a:r>
              <a:r>
                <a:rPr lang="en-US" sz="2400" dirty="0" smtClean="0"/>
                <a:t>efficiency</a:t>
              </a:r>
            </a:p>
            <a:p>
              <a:pPr marL="342900" indent="-342900">
                <a:buFont typeface="Arial" charset="0"/>
                <a:buChar char="•"/>
              </a:pPr>
              <a:r>
                <a:rPr lang="en-US" sz="2400" dirty="0" smtClean="0"/>
                <a:t>Supports </a:t>
              </a:r>
              <a:r>
                <a:rPr lang="en-US" sz="2400" dirty="0"/>
                <a:t>waste reduction &amp; sustainability goals</a:t>
              </a:r>
              <a:endParaRPr lang="en-IN" sz="2400" dirty="0"/>
            </a:p>
          </p:txBody>
        </p:sp>
      </p:grpSp>
      <p:pic>
        <p:nvPicPr>
          <p:cNvPr id="21" name="Pictur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535150" y="518815"/>
            <a:ext cx="3448050" cy="509885"/>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71800" y="4919018"/>
            <a:ext cx="11563350" cy="1249869"/>
          </a:xfrm>
          <a:prstGeom prst="rect">
            <a:avLst/>
          </a:prstGeom>
        </p:spPr>
      </p:pic>
    </p:spTree>
    <p:extLst>
      <p:ext uri="{BB962C8B-B14F-4D97-AF65-F5344CB8AC3E}">
        <p14:creationId xmlns:p14="http://schemas.microsoft.com/office/powerpoint/2010/main" val="2683341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Page 01</a:t>
            </a:r>
          </a:p>
        </p:txBody>
      </p:sp>
      <p:sp>
        <p:nvSpPr>
          <p:cNvPr id="8" name="TextBox 9"/>
          <p:cNvSpPr txBox="1"/>
          <p:nvPr/>
        </p:nvSpPr>
        <p:spPr>
          <a:xfrm>
            <a:off x="97027" y="333126"/>
            <a:ext cx="18135600" cy="833562"/>
          </a:xfrm>
          <a:prstGeom prst="rect">
            <a:avLst/>
          </a:prstGeom>
        </p:spPr>
        <p:txBody>
          <a:bodyPr wrap="square" lIns="0" tIns="0" rIns="0" bIns="0" rtlCol="0" anchor="t">
            <a:spAutoFit/>
          </a:bodyPr>
          <a:lstStyle/>
          <a:p>
            <a:pPr algn="l">
              <a:lnSpc>
                <a:spcPts val="6480"/>
              </a:lnSpc>
            </a:pPr>
            <a:r>
              <a:rPr lang="en-US" sz="4800" dirty="0" smtClean="0">
                <a:solidFill>
                  <a:srgbClr val="FFFFFF"/>
                </a:solidFill>
                <a:latin typeface="Horizon"/>
                <a:ea typeface="Horizon"/>
                <a:cs typeface="Horizon"/>
                <a:sym typeface="Horizon"/>
              </a:rPr>
              <a:t>  KPIs </a:t>
            </a:r>
            <a:r>
              <a:rPr lang="en-US" sz="4800" dirty="0" err="1" smtClean="0">
                <a:solidFill>
                  <a:srgbClr val="FFFFFF"/>
                </a:solidFill>
                <a:latin typeface="Horizon"/>
                <a:ea typeface="Horizon"/>
                <a:cs typeface="Horizon"/>
                <a:sym typeface="Horizon"/>
              </a:rPr>
              <a:t>Explaination</a:t>
            </a:r>
            <a:endParaRPr lang="en-US" sz="4800" dirty="0">
              <a:solidFill>
                <a:srgbClr val="FFFFFF"/>
              </a:solidFill>
              <a:latin typeface="Horizon"/>
              <a:ea typeface="Horizon"/>
              <a:cs typeface="Horizon"/>
              <a:sym typeface="Horizon"/>
            </a:endParaRPr>
          </a:p>
        </p:txBody>
      </p:sp>
      <p:sp>
        <p:nvSpPr>
          <p:cNvPr id="11" name="TextBox 6"/>
          <p:cNvSpPr txBox="1"/>
          <p:nvPr/>
        </p:nvSpPr>
        <p:spPr>
          <a:xfrm>
            <a:off x="1078340" y="2518249"/>
            <a:ext cx="7592831" cy="120032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SUM(Manufactured Qty)</a:t>
            </a:r>
          </a:p>
          <a:p>
            <a:r>
              <a:rPr lang="en-US" dirty="0"/>
              <a:t/>
            </a:r>
            <a:br>
              <a:rPr lang="en-US" dirty="0"/>
            </a:br>
            <a:r>
              <a:rPr lang="en-US" dirty="0"/>
              <a:t/>
            </a:r>
            <a:br>
              <a:rPr lang="en-US" dirty="0"/>
            </a:br>
            <a:endParaRPr lang="en-US" dirty="0"/>
          </a:p>
        </p:txBody>
      </p:sp>
      <p:sp>
        <p:nvSpPr>
          <p:cNvPr id="12" name="TextBox 8"/>
          <p:cNvSpPr txBox="1"/>
          <p:nvPr/>
        </p:nvSpPr>
        <p:spPr>
          <a:xfrm>
            <a:off x="953978" y="4998113"/>
            <a:ext cx="6548096"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      Rejected Quantity</a:t>
            </a:r>
            <a:endParaRPr lang="en-US" dirty="0">
              <a:solidFill>
                <a:schemeClr val="lt1"/>
              </a:solidFill>
            </a:endParaRPr>
          </a:p>
          <a:p>
            <a:r>
              <a:rPr lang="en-US" dirty="0"/>
              <a:t>       SUM(Rejected Qty)</a:t>
            </a:r>
          </a:p>
          <a:p>
            <a:r>
              <a:rPr lang="en-US" dirty="0"/>
              <a:t> </a:t>
            </a:r>
          </a:p>
        </p:txBody>
      </p:sp>
      <p:sp>
        <p:nvSpPr>
          <p:cNvPr id="18" name="TextBox 25"/>
          <p:cNvSpPr txBox="1"/>
          <p:nvPr/>
        </p:nvSpPr>
        <p:spPr>
          <a:xfrm>
            <a:off x="6498449" y="4919018"/>
            <a:ext cx="6171661"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Wastage Quantity</a:t>
            </a:r>
            <a:endParaRPr lang="en-US" dirty="0">
              <a:solidFill>
                <a:schemeClr val="lt1"/>
              </a:solidFill>
            </a:endParaRPr>
          </a:p>
          <a:p>
            <a:r>
              <a:rPr lang="en-US" dirty="0"/>
              <a:t>SUM(R Qty/Sum(P Qty)</a:t>
            </a:r>
          </a:p>
          <a:p>
            <a:endParaRPr lang="en-US" dirty="0"/>
          </a:p>
        </p:txBody>
      </p:sp>
      <p:sp>
        <p:nvSpPr>
          <p:cNvPr id="26" name="Rounded Rectangle 25"/>
          <p:cNvSpPr/>
          <p:nvPr/>
        </p:nvSpPr>
        <p:spPr>
          <a:xfrm>
            <a:off x="155955" y="2000250"/>
            <a:ext cx="12645645" cy="3842098"/>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24" name="Title 1"/>
          <p:cNvSpPr>
            <a:spLocks noGrp="1"/>
          </p:cNvSpPr>
          <p:nvPr/>
        </p:nvSpPr>
        <p:spPr>
          <a:xfrm>
            <a:off x="840205" y="2097011"/>
            <a:ext cx="10515600" cy="10250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Machine wise Rejected Quantity</a:t>
            </a:r>
          </a:p>
        </p:txBody>
      </p:sp>
      <p:sp>
        <p:nvSpPr>
          <p:cNvPr id="37" name="Content Placeholder 2"/>
          <p:cNvSpPr>
            <a:spLocks noGrp="1"/>
          </p:cNvSpPr>
          <p:nvPr/>
        </p:nvSpPr>
        <p:spPr>
          <a:xfrm>
            <a:off x="533400" y="2857500"/>
            <a:ext cx="12136710" cy="55856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This visual highlights the technically unreliable machines, which needs the maintenances and the most experienced technicians to troubleshoot the high-rejection machines.</a:t>
            </a:r>
          </a:p>
          <a:p>
            <a:pPr marL="0" indent="0">
              <a:buNone/>
            </a:pPr>
            <a:r>
              <a:rPr lang="en-US" sz="2000" b="1" dirty="0"/>
              <a:t>Decision : </a:t>
            </a:r>
          </a:p>
          <a:p>
            <a:pPr marL="0" indent="0">
              <a:buNone/>
            </a:pPr>
            <a:r>
              <a:rPr lang="en-US" sz="2000" dirty="0"/>
              <a:t>1)If a machine like </a:t>
            </a:r>
            <a:r>
              <a:rPr lang="en-US" sz="2000" b="1" dirty="0"/>
              <a:t>MC027</a:t>
            </a:r>
            <a:r>
              <a:rPr lang="en-US" sz="2000" dirty="0"/>
              <a:t> consistently appears at the top despite repairs, the data provides a financial justification to </a:t>
            </a:r>
            <a:r>
              <a:rPr lang="en-US" sz="2000" b="1" dirty="0"/>
              <a:t>replace</a:t>
            </a:r>
            <a:r>
              <a:rPr lang="en-US" sz="2000" dirty="0"/>
              <a:t> the equipment rather than continue costly, ineffective maintenance.</a:t>
            </a:r>
          </a:p>
          <a:p>
            <a:pPr marL="0" indent="0">
              <a:buNone/>
            </a:pPr>
            <a:r>
              <a:rPr lang="en-US" sz="2000" dirty="0"/>
              <a:t>2) Audit the </a:t>
            </a:r>
            <a:r>
              <a:rPr lang="en-US" sz="2000" b="1" dirty="0"/>
              <a:t>operators</a:t>
            </a:r>
            <a:r>
              <a:rPr lang="en-US" sz="2000" dirty="0"/>
              <a:t> assigned to the top five machines. If the high rejection rate follows a specific shift or person, the decision should be to provide </a:t>
            </a:r>
            <a:r>
              <a:rPr lang="en-US" sz="2000" b="1" dirty="0"/>
              <a:t>targeted retraining</a:t>
            </a:r>
            <a:r>
              <a:rPr lang="en-US" sz="2000" dirty="0"/>
              <a:t> rather than mechanical repair.</a:t>
            </a:r>
          </a:p>
        </p:txBody>
      </p:sp>
      <p:sp>
        <p:nvSpPr>
          <p:cNvPr id="38" name="Rounded Rectangle 37"/>
          <p:cNvSpPr/>
          <p:nvPr/>
        </p:nvSpPr>
        <p:spPr>
          <a:xfrm>
            <a:off x="4686300" y="6210299"/>
            <a:ext cx="13182600" cy="3572758"/>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39" name="Title 1"/>
          <p:cNvSpPr>
            <a:spLocks noGrp="1"/>
          </p:cNvSpPr>
          <p:nvPr/>
        </p:nvSpPr>
        <p:spPr>
          <a:xfrm>
            <a:off x="4857482" y="621029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Employee wise Rejected Quantity</a:t>
            </a:r>
          </a:p>
        </p:txBody>
      </p:sp>
      <p:sp>
        <p:nvSpPr>
          <p:cNvPr id="40" name="Content Placeholder 2"/>
          <p:cNvSpPr>
            <a:spLocks noGrp="1"/>
          </p:cNvSpPr>
          <p:nvPr/>
        </p:nvSpPr>
        <p:spPr>
          <a:xfrm>
            <a:off x="4648200" y="7176540"/>
            <a:ext cx="12611100" cy="53601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Since all four employees have almost identical rejection percentages (0.81% to 0.82%), the problem likely isn't "bad employees." It suggests a </a:t>
            </a:r>
            <a:r>
              <a:rPr lang="en-US" sz="2400" b="1" dirty="0"/>
              <a:t>systemic issue</a:t>
            </a:r>
            <a:r>
              <a:rPr lang="en-US" sz="2400" dirty="0"/>
              <a:t>—such as a flaw in the standard operating procedure (SOP), raw material quality, or the machines themselves.</a:t>
            </a:r>
          </a:p>
          <a:p>
            <a:pPr marL="0" indent="0">
              <a:buNone/>
            </a:pPr>
            <a:r>
              <a:rPr lang="en-US" sz="2400" dirty="0"/>
              <a:t>By showing "Produced Qty" alongside "Rejected Qty," it prevents unfair blaming. Shruti Singh has the highest total rejections, but because her production volume is also the highest, her actual error rate (0.82%) is nearly the same as the others.</a:t>
            </a:r>
          </a:p>
          <a:p>
            <a:pPr marL="0" indent="0">
              <a:buNone/>
            </a:pPr>
            <a:endParaRPr lang="en-US" sz="2400" dirty="0"/>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535150" y="518815"/>
            <a:ext cx="3448050" cy="509885"/>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63600" y="2000251"/>
            <a:ext cx="4038600" cy="3921192"/>
          </a:xfrm>
          <a:prstGeom prst="rect">
            <a:avLst/>
          </a:prstGeom>
          <a:scene3d>
            <a:camera prst="orthographicFront"/>
            <a:lightRig rig="threePt" dir="t"/>
          </a:scene3d>
          <a:sp3d>
            <a:bevelT w="165100" prst="coolSlant"/>
          </a:sp3d>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1000" y="6210299"/>
            <a:ext cx="3962400" cy="3646303"/>
          </a:xfrm>
          <a:prstGeom prst="rect">
            <a:avLst/>
          </a:prstGeom>
        </p:spPr>
      </p:pic>
    </p:spTree>
    <p:extLst>
      <p:ext uri="{BB962C8B-B14F-4D97-AF65-F5344CB8AC3E}">
        <p14:creationId xmlns:p14="http://schemas.microsoft.com/office/powerpoint/2010/main" val="2895808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Page 01</a:t>
            </a:r>
          </a:p>
        </p:txBody>
      </p:sp>
      <p:sp>
        <p:nvSpPr>
          <p:cNvPr id="8" name="TextBox 9"/>
          <p:cNvSpPr txBox="1"/>
          <p:nvPr/>
        </p:nvSpPr>
        <p:spPr>
          <a:xfrm>
            <a:off x="18069" y="240857"/>
            <a:ext cx="18135600" cy="833562"/>
          </a:xfrm>
          <a:prstGeom prst="rect">
            <a:avLst/>
          </a:prstGeom>
        </p:spPr>
        <p:txBody>
          <a:bodyPr wrap="square" lIns="0" tIns="0" rIns="0" bIns="0" rtlCol="0" anchor="t">
            <a:spAutoFit/>
          </a:bodyPr>
          <a:lstStyle/>
          <a:p>
            <a:pPr algn="l">
              <a:lnSpc>
                <a:spcPts val="6480"/>
              </a:lnSpc>
            </a:pPr>
            <a:r>
              <a:rPr lang="en-US" sz="4800" dirty="0" smtClean="0">
                <a:solidFill>
                  <a:srgbClr val="FFFFFF"/>
                </a:solidFill>
                <a:latin typeface="Horizon"/>
                <a:ea typeface="Horizon"/>
                <a:cs typeface="Horizon"/>
                <a:sym typeface="Horizon"/>
              </a:rPr>
              <a:t>  KPIs </a:t>
            </a:r>
            <a:r>
              <a:rPr lang="en-US" sz="4800" dirty="0" err="1" smtClean="0">
                <a:solidFill>
                  <a:srgbClr val="FFFFFF"/>
                </a:solidFill>
                <a:latin typeface="Horizon"/>
                <a:ea typeface="Horizon"/>
                <a:cs typeface="Horizon"/>
                <a:sym typeface="Horizon"/>
              </a:rPr>
              <a:t>Explaination</a:t>
            </a:r>
            <a:endParaRPr lang="en-US" sz="4800" dirty="0">
              <a:solidFill>
                <a:srgbClr val="FFFFFF"/>
              </a:solidFill>
              <a:latin typeface="Horizon"/>
              <a:ea typeface="Horizon"/>
              <a:cs typeface="Horizon"/>
              <a:sym typeface="Horizon"/>
            </a:endParaRPr>
          </a:p>
        </p:txBody>
      </p:sp>
      <p:sp>
        <p:nvSpPr>
          <p:cNvPr id="11" name="TextBox 6"/>
          <p:cNvSpPr txBox="1"/>
          <p:nvPr/>
        </p:nvSpPr>
        <p:spPr>
          <a:xfrm>
            <a:off x="1078340" y="2518249"/>
            <a:ext cx="7592831" cy="120032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SUM(Manufactured Qty)</a:t>
            </a:r>
          </a:p>
          <a:p>
            <a:r>
              <a:rPr lang="en-US" dirty="0"/>
              <a:t/>
            </a:r>
            <a:br>
              <a:rPr lang="en-US" dirty="0"/>
            </a:br>
            <a:r>
              <a:rPr lang="en-US" dirty="0"/>
              <a:t/>
            </a:r>
            <a:br>
              <a:rPr lang="en-US" dirty="0"/>
            </a:br>
            <a:endParaRPr lang="en-US" dirty="0"/>
          </a:p>
        </p:txBody>
      </p:sp>
      <p:sp>
        <p:nvSpPr>
          <p:cNvPr id="12" name="TextBox 8"/>
          <p:cNvSpPr txBox="1"/>
          <p:nvPr/>
        </p:nvSpPr>
        <p:spPr>
          <a:xfrm>
            <a:off x="953978" y="4998113"/>
            <a:ext cx="6548096"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      Rejected Quantity</a:t>
            </a:r>
            <a:endParaRPr lang="en-US" dirty="0">
              <a:solidFill>
                <a:schemeClr val="lt1"/>
              </a:solidFill>
            </a:endParaRPr>
          </a:p>
          <a:p>
            <a:r>
              <a:rPr lang="en-US" dirty="0"/>
              <a:t>       SUM(Rejected Qty)</a:t>
            </a:r>
          </a:p>
          <a:p>
            <a:r>
              <a:rPr lang="en-US" dirty="0"/>
              <a:t> </a:t>
            </a:r>
          </a:p>
        </p:txBody>
      </p:sp>
      <p:sp>
        <p:nvSpPr>
          <p:cNvPr id="18" name="TextBox 25"/>
          <p:cNvSpPr txBox="1"/>
          <p:nvPr/>
        </p:nvSpPr>
        <p:spPr>
          <a:xfrm>
            <a:off x="6498449" y="4919018"/>
            <a:ext cx="6171661"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Wastage Quantity</a:t>
            </a:r>
            <a:endParaRPr lang="en-US" dirty="0">
              <a:solidFill>
                <a:schemeClr val="lt1"/>
              </a:solidFill>
            </a:endParaRPr>
          </a:p>
          <a:p>
            <a:r>
              <a:rPr lang="en-US" dirty="0"/>
              <a:t>SUM(R Qty/Sum(P Qty)</a:t>
            </a:r>
          </a:p>
          <a:p>
            <a:endParaRPr lang="en-US" dirty="0"/>
          </a:p>
        </p:txBody>
      </p:sp>
      <p:sp>
        <p:nvSpPr>
          <p:cNvPr id="26" name="Rounded Rectangle 25"/>
          <p:cNvSpPr/>
          <p:nvPr/>
        </p:nvSpPr>
        <p:spPr>
          <a:xfrm>
            <a:off x="155955" y="2000250"/>
            <a:ext cx="13407645" cy="3842098"/>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38" name="Rounded Rectangle 37"/>
          <p:cNvSpPr/>
          <p:nvPr/>
        </p:nvSpPr>
        <p:spPr>
          <a:xfrm>
            <a:off x="4874754" y="6210300"/>
            <a:ext cx="12956045" cy="3572758"/>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endParaRPr lang="en-US" sz="2400" dirty="0" smtClean="0"/>
          </a:p>
          <a:p>
            <a:endParaRPr lang="en-US" sz="2400" dirty="0"/>
          </a:p>
          <a:p>
            <a:r>
              <a:rPr lang="en-US" sz="2400" dirty="0" smtClean="0"/>
              <a:t>With </a:t>
            </a:r>
            <a:r>
              <a:rPr lang="en-US" sz="2400" dirty="0"/>
              <a:t>this visual we know that there is</a:t>
            </a:r>
            <a:r>
              <a:rPr lang="en-US" sz="2400" b="1" dirty="0"/>
              <a:t> 99% Success Rate, i.e. </a:t>
            </a:r>
            <a:r>
              <a:rPr lang="en-US" sz="2400" dirty="0"/>
              <a:t>Out of every 100 units produced, 99 are good.</a:t>
            </a:r>
          </a:p>
          <a:p>
            <a:endParaRPr lang="en-US" sz="2400" dirty="0"/>
          </a:p>
          <a:p>
            <a:r>
              <a:rPr lang="en-US" sz="2400" b="1" dirty="0"/>
              <a:t>Decision : </a:t>
            </a:r>
            <a:r>
              <a:rPr lang="en-US" sz="2400" dirty="0"/>
              <a:t>While the 490,964 rejected unit looks very less, but this represents a massive amount of lost material, labor, and potential revenue. To reduce the rejected units "Six Sigma" projects or new quality control technology can be introduced.</a:t>
            </a:r>
          </a:p>
          <a:p>
            <a:endParaRPr lang="en-US" sz="2400" dirty="0"/>
          </a:p>
        </p:txBody>
      </p:sp>
      <p:sp>
        <p:nvSpPr>
          <p:cNvPr id="19" name="Title 1"/>
          <p:cNvSpPr>
            <a:spLocks noGrp="1"/>
          </p:cNvSpPr>
          <p:nvPr/>
        </p:nvSpPr>
        <p:spPr>
          <a:xfrm>
            <a:off x="457200" y="2000251"/>
            <a:ext cx="10515600"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Production Comparison Trend</a:t>
            </a:r>
          </a:p>
        </p:txBody>
      </p:sp>
      <p:sp>
        <p:nvSpPr>
          <p:cNvPr id="20" name="Content Placeholder 2"/>
          <p:cNvSpPr>
            <a:spLocks noGrp="1"/>
          </p:cNvSpPr>
          <p:nvPr/>
        </p:nvSpPr>
        <p:spPr>
          <a:xfrm>
            <a:off x="457200" y="2743349"/>
            <a:ext cx="131064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dirty="0"/>
              <a:t>This visual shows the daily fluctuations of production quantity, which is between 100,000 and 250,000 units.</a:t>
            </a:r>
          </a:p>
          <a:p>
            <a:r>
              <a:rPr lang="en-US" sz="2400" dirty="0"/>
              <a:t>The black linear trend line is almost perfectly horizontal. This tells the </a:t>
            </a:r>
            <a:r>
              <a:rPr lang="en-US" sz="2400" b="1" dirty="0"/>
              <a:t>overall production capacity is stagnant</a:t>
            </a:r>
            <a:r>
              <a:rPr lang="en-US" sz="2400" dirty="0"/>
              <a:t>—and the production is not growing or declining over the long term.</a:t>
            </a:r>
          </a:p>
          <a:p>
            <a:pPr marL="0" indent="0">
              <a:buNone/>
            </a:pPr>
            <a:r>
              <a:rPr lang="en-US" sz="2400" b="1" dirty="0"/>
              <a:t>Decision</a:t>
            </a:r>
            <a:r>
              <a:rPr lang="en-US" sz="2400" dirty="0"/>
              <a:t> : Since the linear trend is flat, we cannot expect that this setup will </a:t>
            </a:r>
            <a:r>
              <a:rPr lang="en-US" sz="2400" dirty="0" err="1"/>
              <a:t>fullfill</a:t>
            </a:r>
            <a:r>
              <a:rPr lang="en-US" sz="2400" dirty="0"/>
              <a:t> the high demand sales. For getting the upward linear trend, we have to </a:t>
            </a:r>
            <a:r>
              <a:rPr lang="en-US" sz="2400" b="1" dirty="0"/>
              <a:t>invest in new machinery</a:t>
            </a:r>
            <a:r>
              <a:rPr lang="en-US" sz="2400" dirty="0"/>
              <a:t> or </a:t>
            </a:r>
            <a:r>
              <a:rPr lang="en-US" sz="2400" b="1" dirty="0"/>
              <a:t>optimize existing workflows.</a:t>
            </a:r>
            <a:endParaRPr lang="en-US" sz="2400" dirty="0"/>
          </a:p>
        </p:txBody>
      </p:sp>
      <p:sp>
        <p:nvSpPr>
          <p:cNvPr id="21" name="Title 1"/>
          <p:cNvSpPr>
            <a:spLocks noGrp="1"/>
          </p:cNvSpPr>
          <p:nvPr/>
        </p:nvSpPr>
        <p:spPr>
          <a:xfrm>
            <a:off x="4874754" y="6214269"/>
            <a:ext cx="10515600" cy="10628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Manufacture Vs Rejected</a:t>
            </a:r>
          </a:p>
        </p:txBody>
      </p:sp>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535150" y="518815"/>
            <a:ext cx="3448050" cy="509885"/>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54629" y="1866900"/>
            <a:ext cx="4228571" cy="3809999"/>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7200" y="6408972"/>
            <a:ext cx="3962400" cy="3374086"/>
          </a:xfrm>
          <a:prstGeom prst="rect">
            <a:avLst/>
          </a:prstGeom>
        </p:spPr>
      </p:pic>
    </p:spTree>
    <p:extLst>
      <p:ext uri="{BB962C8B-B14F-4D97-AF65-F5344CB8AC3E}">
        <p14:creationId xmlns:p14="http://schemas.microsoft.com/office/powerpoint/2010/main" val="729866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Page 01</a:t>
            </a:r>
          </a:p>
        </p:txBody>
      </p:sp>
      <p:sp>
        <p:nvSpPr>
          <p:cNvPr id="8" name="TextBox 9"/>
          <p:cNvSpPr txBox="1"/>
          <p:nvPr/>
        </p:nvSpPr>
        <p:spPr>
          <a:xfrm>
            <a:off x="76200" y="152544"/>
            <a:ext cx="18135600" cy="833562"/>
          </a:xfrm>
          <a:prstGeom prst="rect">
            <a:avLst/>
          </a:prstGeom>
        </p:spPr>
        <p:txBody>
          <a:bodyPr wrap="square" lIns="0" tIns="0" rIns="0" bIns="0" rtlCol="0" anchor="t">
            <a:spAutoFit/>
          </a:bodyPr>
          <a:lstStyle/>
          <a:p>
            <a:pPr algn="l">
              <a:lnSpc>
                <a:spcPts val="6480"/>
              </a:lnSpc>
            </a:pPr>
            <a:r>
              <a:rPr lang="en-US" sz="4800" dirty="0" smtClean="0">
                <a:solidFill>
                  <a:srgbClr val="FFFFFF"/>
                </a:solidFill>
                <a:latin typeface="Horizon"/>
                <a:ea typeface="Horizon"/>
                <a:cs typeface="Horizon"/>
                <a:sym typeface="Horizon"/>
              </a:rPr>
              <a:t>   KPIs </a:t>
            </a:r>
            <a:r>
              <a:rPr lang="en-US" sz="4800" dirty="0" err="1" smtClean="0">
                <a:solidFill>
                  <a:srgbClr val="FFFFFF"/>
                </a:solidFill>
                <a:latin typeface="Horizon"/>
                <a:ea typeface="Horizon"/>
                <a:cs typeface="Horizon"/>
                <a:sym typeface="Horizon"/>
              </a:rPr>
              <a:t>Explaination</a:t>
            </a:r>
            <a:endParaRPr lang="en-US" sz="4800" dirty="0">
              <a:solidFill>
                <a:srgbClr val="FFFFFF"/>
              </a:solidFill>
              <a:latin typeface="Horizon"/>
              <a:ea typeface="Horizon"/>
              <a:cs typeface="Horizon"/>
              <a:sym typeface="Horizon"/>
            </a:endParaRPr>
          </a:p>
        </p:txBody>
      </p:sp>
      <p:sp>
        <p:nvSpPr>
          <p:cNvPr id="11" name="TextBox 6"/>
          <p:cNvSpPr txBox="1"/>
          <p:nvPr/>
        </p:nvSpPr>
        <p:spPr>
          <a:xfrm>
            <a:off x="1078340" y="2518249"/>
            <a:ext cx="7592831" cy="120032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SUM(Manufactured Qty)</a:t>
            </a:r>
          </a:p>
          <a:p>
            <a:r>
              <a:rPr lang="en-US" dirty="0"/>
              <a:t/>
            </a:r>
            <a:br>
              <a:rPr lang="en-US" dirty="0"/>
            </a:br>
            <a:r>
              <a:rPr lang="en-US" dirty="0"/>
              <a:t/>
            </a:r>
            <a:br>
              <a:rPr lang="en-US" dirty="0"/>
            </a:br>
            <a:endParaRPr lang="en-US" dirty="0"/>
          </a:p>
        </p:txBody>
      </p:sp>
      <p:sp>
        <p:nvSpPr>
          <p:cNvPr id="12" name="TextBox 8"/>
          <p:cNvSpPr txBox="1"/>
          <p:nvPr/>
        </p:nvSpPr>
        <p:spPr>
          <a:xfrm>
            <a:off x="953978" y="4998113"/>
            <a:ext cx="6548096"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      Rejected Quantity</a:t>
            </a:r>
            <a:endParaRPr lang="en-US" dirty="0">
              <a:solidFill>
                <a:schemeClr val="lt1"/>
              </a:solidFill>
            </a:endParaRPr>
          </a:p>
          <a:p>
            <a:r>
              <a:rPr lang="en-US" dirty="0"/>
              <a:t>       SUM(Rejected Qty)</a:t>
            </a:r>
          </a:p>
          <a:p>
            <a:r>
              <a:rPr lang="en-US" dirty="0"/>
              <a:t> </a:t>
            </a:r>
          </a:p>
        </p:txBody>
      </p:sp>
      <p:sp>
        <p:nvSpPr>
          <p:cNvPr id="18" name="TextBox 25"/>
          <p:cNvSpPr txBox="1"/>
          <p:nvPr/>
        </p:nvSpPr>
        <p:spPr>
          <a:xfrm>
            <a:off x="6498449" y="4919018"/>
            <a:ext cx="6171661"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Wastage Quantity</a:t>
            </a:r>
            <a:endParaRPr lang="en-US" dirty="0">
              <a:solidFill>
                <a:schemeClr val="lt1"/>
              </a:solidFill>
            </a:endParaRPr>
          </a:p>
          <a:p>
            <a:r>
              <a:rPr lang="en-US" dirty="0"/>
              <a:t>SUM(R Qty/Sum(P Qty)</a:t>
            </a:r>
          </a:p>
          <a:p>
            <a:endParaRPr lang="en-US" dirty="0"/>
          </a:p>
        </p:txBody>
      </p:sp>
      <p:sp>
        <p:nvSpPr>
          <p:cNvPr id="26" name="Rounded Rectangle 25"/>
          <p:cNvSpPr/>
          <p:nvPr/>
        </p:nvSpPr>
        <p:spPr>
          <a:xfrm>
            <a:off x="953978" y="1333500"/>
            <a:ext cx="12762022" cy="51816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17" name="Title 1"/>
          <p:cNvSpPr>
            <a:spLocks noGrp="1"/>
          </p:cNvSpPr>
          <p:nvPr/>
        </p:nvSpPr>
        <p:spPr>
          <a:xfrm>
            <a:off x="1595315" y="1444164"/>
            <a:ext cx="10515600" cy="107408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Department Wise Manufacture Vs Rejected:</a:t>
            </a:r>
          </a:p>
        </p:txBody>
      </p:sp>
      <p:sp>
        <p:nvSpPr>
          <p:cNvPr id="22" name="Content Placeholder 2"/>
          <p:cNvSpPr>
            <a:spLocks noGrp="1"/>
          </p:cNvSpPr>
          <p:nvPr/>
        </p:nvSpPr>
        <p:spPr>
          <a:xfrm>
            <a:off x="1427046" y="2491627"/>
            <a:ext cx="11815885" cy="372232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visual shows that the</a:t>
            </a:r>
            <a:r>
              <a:rPr lang="en-US" b="1" dirty="0"/>
              <a:t> Printed Fabric</a:t>
            </a:r>
            <a:r>
              <a:rPr lang="en-US" dirty="0"/>
              <a:t> has the lowest total production but a visibly higher proportion of rejections compared to its output, also, </a:t>
            </a:r>
            <a:r>
              <a:rPr lang="en-US" b="1" dirty="0"/>
              <a:t>Woven Labels</a:t>
            </a:r>
            <a:r>
              <a:rPr lang="en-US" dirty="0"/>
              <a:t> also shows a significantly larger rejection block relative to </a:t>
            </a:r>
            <a:r>
              <a:rPr lang="en-US" b="1" dirty="0"/>
              <a:t>Footwear</a:t>
            </a:r>
            <a:r>
              <a:rPr lang="en-US" dirty="0"/>
              <a:t> or </a:t>
            </a:r>
            <a:r>
              <a:rPr lang="en-US" b="1" dirty="0"/>
              <a:t>Knitwear</a:t>
            </a:r>
            <a:r>
              <a:rPr lang="en-US" dirty="0"/>
              <a:t>.</a:t>
            </a:r>
          </a:p>
          <a:p>
            <a:pPr marL="0" indent="0">
              <a:buNone/>
            </a:pPr>
            <a:r>
              <a:rPr lang="en-US" b="1" dirty="0"/>
              <a:t>Decision : </a:t>
            </a:r>
            <a:r>
              <a:rPr lang="en-US" dirty="0"/>
              <a:t>Since the Printed Fabric have the highest visible scrap ratio, fixing a single issue there will yield the highest return on investment.</a:t>
            </a:r>
          </a:p>
          <a:p>
            <a:pPr marL="0" indent="0">
              <a:buNone/>
            </a:pPr>
            <a:r>
              <a:rPr lang="en-US" dirty="0"/>
              <a:t>Investigate </a:t>
            </a:r>
            <a:r>
              <a:rPr lang="en-US" b="1" dirty="0"/>
              <a:t>vendor quality</a:t>
            </a:r>
            <a:r>
              <a:rPr lang="en-US" dirty="0"/>
              <a:t> for the "Printed Fabric" and "Woven Labels" departments. You may decide to switch to a higher-grade supplier for those specific materials to reduce the scrap rate.</a:t>
            </a: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048500"/>
            <a:ext cx="18287999" cy="2514600"/>
          </a:xfrm>
          <a:prstGeom prst="rect">
            <a:avLst/>
          </a:prstGeom>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535150" y="518815"/>
            <a:ext cx="3448050" cy="509885"/>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09260" y="1626006"/>
            <a:ext cx="3747379" cy="4587943"/>
          </a:xfrm>
          <a:prstGeom prst="rect">
            <a:avLst/>
          </a:prstGeom>
        </p:spPr>
      </p:pic>
    </p:spTree>
    <p:extLst>
      <p:ext uri="{BB962C8B-B14F-4D97-AF65-F5344CB8AC3E}">
        <p14:creationId xmlns:p14="http://schemas.microsoft.com/office/powerpoint/2010/main" val="524407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dirty="0">
                <a:solidFill>
                  <a:srgbClr val="000000"/>
                </a:solidFill>
                <a:latin typeface="TT Hoves Bold"/>
                <a:ea typeface="TT Hoves Bold"/>
                <a:cs typeface="TT Hoves Bold"/>
                <a:sym typeface="TT Hoves Bold"/>
              </a:rPr>
              <a:t>Page 01</a:t>
            </a:r>
          </a:p>
        </p:txBody>
      </p:sp>
      <p:sp>
        <p:nvSpPr>
          <p:cNvPr id="8" name="TextBox 9"/>
          <p:cNvSpPr txBox="1"/>
          <p:nvPr/>
        </p:nvSpPr>
        <p:spPr>
          <a:xfrm>
            <a:off x="37119" y="197933"/>
            <a:ext cx="18135600" cy="833562"/>
          </a:xfrm>
          <a:prstGeom prst="rect">
            <a:avLst/>
          </a:prstGeom>
        </p:spPr>
        <p:txBody>
          <a:bodyPr wrap="square" lIns="0" tIns="0" rIns="0" bIns="0" rtlCol="0" anchor="t">
            <a:spAutoFit/>
          </a:bodyPr>
          <a:lstStyle/>
          <a:p>
            <a:pPr algn="l">
              <a:lnSpc>
                <a:spcPts val="6480"/>
              </a:lnSpc>
            </a:pPr>
            <a:r>
              <a:rPr lang="en-US" sz="4800" dirty="0" smtClean="0">
                <a:solidFill>
                  <a:srgbClr val="FFFFFF"/>
                </a:solidFill>
                <a:latin typeface="Horizon"/>
                <a:ea typeface="Horizon"/>
                <a:cs typeface="Horizon"/>
                <a:sym typeface="Horizon"/>
              </a:rPr>
              <a:t>   Excel dashboard</a:t>
            </a:r>
            <a:endParaRPr lang="en-US" sz="4800" dirty="0">
              <a:solidFill>
                <a:srgbClr val="FFFFFF"/>
              </a:solidFill>
              <a:latin typeface="Horizon"/>
              <a:ea typeface="Horizon"/>
              <a:cs typeface="Horizon"/>
              <a:sym typeface="Horizon"/>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257300"/>
            <a:ext cx="17602200" cy="86868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535150" y="518815"/>
            <a:ext cx="3448050" cy="509885"/>
          </a:xfrm>
          <a:prstGeom prst="rect">
            <a:avLst/>
          </a:prstGeom>
        </p:spPr>
      </p:pic>
    </p:spTree>
    <p:extLst>
      <p:ext uri="{BB962C8B-B14F-4D97-AF65-F5344CB8AC3E}">
        <p14:creationId xmlns:p14="http://schemas.microsoft.com/office/powerpoint/2010/main" val="4213579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dirty="0">
                <a:solidFill>
                  <a:srgbClr val="000000"/>
                </a:solidFill>
                <a:latin typeface="TT Hoves Bold"/>
                <a:ea typeface="TT Hoves Bold"/>
                <a:cs typeface="TT Hoves Bold"/>
                <a:sym typeface="TT Hoves Bold"/>
              </a:rPr>
              <a:t>Page 01</a:t>
            </a:r>
          </a:p>
        </p:txBody>
      </p:sp>
      <p:sp>
        <p:nvSpPr>
          <p:cNvPr id="8" name="TextBox 9"/>
          <p:cNvSpPr txBox="1"/>
          <p:nvPr/>
        </p:nvSpPr>
        <p:spPr>
          <a:xfrm>
            <a:off x="38100" y="233238"/>
            <a:ext cx="18135600" cy="833562"/>
          </a:xfrm>
          <a:prstGeom prst="rect">
            <a:avLst/>
          </a:prstGeom>
        </p:spPr>
        <p:txBody>
          <a:bodyPr wrap="square" lIns="0" tIns="0" rIns="0" bIns="0" rtlCol="0" anchor="t">
            <a:spAutoFit/>
          </a:bodyPr>
          <a:lstStyle/>
          <a:p>
            <a:pPr algn="l">
              <a:lnSpc>
                <a:spcPts val="6480"/>
              </a:lnSpc>
            </a:pPr>
            <a:r>
              <a:rPr lang="en-US" sz="4800" dirty="0" smtClean="0">
                <a:solidFill>
                  <a:srgbClr val="FFFFFF"/>
                </a:solidFill>
                <a:latin typeface="Horizon"/>
                <a:ea typeface="Horizon"/>
                <a:cs typeface="Horizon"/>
                <a:sym typeface="Horizon"/>
              </a:rPr>
              <a:t> Power BI dashboard</a:t>
            </a:r>
            <a:endParaRPr lang="en-US" sz="4800" dirty="0">
              <a:solidFill>
                <a:srgbClr val="FFFFFF"/>
              </a:solidFill>
              <a:latin typeface="Horizon"/>
              <a:ea typeface="Horizon"/>
              <a:cs typeface="Horizon"/>
              <a:sym typeface="Horizon"/>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028700"/>
            <a:ext cx="17907000" cy="8991599"/>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535150" y="395076"/>
            <a:ext cx="3448050" cy="509885"/>
          </a:xfrm>
          <a:prstGeom prst="rect">
            <a:avLst/>
          </a:prstGeom>
        </p:spPr>
      </p:pic>
    </p:spTree>
    <p:extLst>
      <p:ext uri="{BB962C8B-B14F-4D97-AF65-F5344CB8AC3E}">
        <p14:creationId xmlns:p14="http://schemas.microsoft.com/office/powerpoint/2010/main" val="2163761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dirty="0">
                <a:solidFill>
                  <a:srgbClr val="000000"/>
                </a:solidFill>
                <a:latin typeface="TT Hoves Bold"/>
                <a:ea typeface="TT Hoves Bold"/>
                <a:cs typeface="TT Hoves Bold"/>
                <a:sym typeface="TT Hoves Bold"/>
              </a:rPr>
              <a:t>Page 01</a:t>
            </a:r>
          </a:p>
        </p:txBody>
      </p:sp>
      <p:sp>
        <p:nvSpPr>
          <p:cNvPr id="8" name="TextBox 9"/>
          <p:cNvSpPr txBox="1"/>
          <p:nvPr/>
        </p:nvSpPr>
        <p:spPr>
          <a:xfrm>
            <a:off x="152400" y="214188"/>
            <a:ext cx="18135600" cy="833562"/>
          </a:xfrm>
          <a:prstGeom prst="rect">
            <a:avLst/>
          </a:prstGeom>
        </p:spPr>
        <p:txBody>
          <a:bodyPr wrap="square" lIns="0" tIns="0" rIns="0" bIns="0" rtlCol="0" anchor="t">
            <a:spAutoFit/>
          </a:bodyPr>
          <a:lstStyle/>
          <a:p>
            <a:pPr algn="l">
              <a:lnSpc>
                <a:spcPts val="6480"/>
              </a:lnSpc>
            </a:pPr>
            <a:r>
              <a:rPr lang="en-US" sz="4800" dirty="0" smtClean="0">
                <a:solidFill>
                  <a:srgbClr val="FFFFFF"/>
                </a:solidFill>
                <a:latin typeface="Horizon"/>
                <a:ea typeface="Horizon"/>
                <a:cs typeface="Horizon"/>
                <a:sym typeface="Horizon"/>
              </a:rPr>
              <a:t> tableau dashboard</a:t>
            </a:r>
            <a:endParaRPr lang="en-US" sz="4800" dirty="0">
              <a:solidFill>
                <a:srgbClr val="FFFFFF"/>
              </a:solidFill>
              <a:latin typeface="Horizon"/>
              <a:ea typeface="Horizon"/>
              <a:cs typeface="Horizon"/>
              <a:sym typeface="Horizo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333500"/>
            <a:ext cx="17907000" cy="87630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535150" y="518815"/>
            <a:ext cx="3448050" cy="509885"/>
          </a:xfrm>
          <a:prstGeom prst="rect">
            <a:avLst/>
          </a:prstGeom>
        </p:spPr>
      </p:pic>
    </p:spTree>
    <p:extLst>
      <p:ext uri="{BB962C8B-B14F-4D97-AF65-F5344CB8AC3E}">
        <p14:creationId xmlns:p14="http://schemas.microsoft.com/office/powerpoint/2010/main" val="36903851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dirty="0">
                <a:solidFill>
                  <a:srgbClr val="000000"/>
                </a:solidFill>
                <a:latin typeface="TT Hoves Bold"/>
                <a:ea typeface="TT Hoves Bold"/>
                <a:cs typeface="TT Hoves Bold"/>
                <a:sym typeface="TT Hoves Bold"/>
              </a:rPr>
              <a:t>Page 01</a:t>
            </a:r>
          </a:p>
        </p:txBody>
      </p:sp>
      <p:sp>
        <p:nvSpPr>
          <p:cNvPr id="8" name="TextBox 9"/>
          <p:cNvSpPr txBox="1"/>
          <p:nvPr/>
        </p:nvSpPr>
        <p:spPr>
          <a:xfrm>
            <a:off x="76200" y="214188"/>
            <a:ext cx="18135600" cy="833562"/>
          </a:xfrm>
          <a:prstGeom prst="rect">
            <a:avLst/>
          </a:prstGeom>
        </p:spPr>
        <p:txBody>
          <a:bodyPr wrap="square" lIns="0" tIns="0" rIns="0" bIns="0" rtlCol="0" anchor="t">
            <a:spAutoFit/>
          </a:bodyPr>
          <a:lstStyle/>
          <a:p>
            <a:pPr algn="l">
              <a:lnSpc>
                <a:spcPts val="6480"/>
              </a:lnSpc>
            </a:pPr>
            <a:r>
              <a:rPr lang="en-US" sz="4800" dirty="0" smtClean="0">
                <a:solidFill>
                  <a:srgbClr val="FFFFFF"/>
                </a:solidFill>
                <a:latin typeface="Horizon"/>
                <a:ea typeface="Horizon"/>
                <a:cs typeface="Horizon"/>
                <a:sym typeface="Horizon"/>
              </a:rPr>
              <a:t>  </a:t>
            </a:r>
            <a:r>
              <a:rPr lang="en-US" sz="4800" dirty="0" err="1" smtClean="0">
                <a:solidFill>
                  <a:srgbClr val="FFFFFF"/>
                </a:solidFill>
                <a:latin typeface="Horizon"/>
                <a:ea typeface="Horizon"/>
                <a:cs typeface="Horizon"/>
                <a:sym typeface="Horizon"/>
              </a:rPr>
              <a:t>sql</a:t>
            </a:r>
            <a:r>
              <a:rPr lang="en-US" sz="4800" dirty="0" smtClean="0">
                <a:solidFill>
                  <a:srgbClr val="FFFFFF"/>
                </a:solidFill>
                <a:latin typeface="Horizon"/>
                <a:ea typeface="Horizon"/>
                <a:cs typeface="Horizon"/>
                <a:sym typeface="Horizon"/>
              </a:rPr>
              <a:t> Screenshot</a:t>
            </a:r>
            <a:endParaRPr lang="en-US" sz="4800" dirty="0">
              <a:solidFill>
                <a:srgbClr val="FFFFFF"/>
              </a:solidFill>
              <a:latin typeface="Horizon"/>
              <a:ea typeface="Horizon"/>
              <a:cs typeface="Horizon"/>
              <a:sym typeface="Horizon"/>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409700"/>
            <a:ext cx="17830800" cy="861059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535150" y="518815"/>
            <a:ext cx="3448050" cy="509885"/>
          </a:xfrm>
          <a:prstGeom prst="rect">
            <a:avLst/>
          </a:prstGeom>
        </p:spPr>
      </p:pic>
    </p:spTree>
    <p:extLst>
      <p:ext uri="{BB962C8B-B14F-4D97-AF65-F5344CB8AC3E}">
        <p14:creationId xmlns:p14="http://schemas.microsoft.com/office/powerpoint/2010/main" val="7436950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dirty="0">
                <a:solidFill>
                  <a:srgbClr val="000000"/>
                </a:solidFill>
                <a:latin typeface="TT Hoves Bold"/>
                <a:ea typeface="TT Hoves Bold"/>
                <a:cs typeface="TT Hoves Bold"/>
                <a:sym typeface="TT Hoves Bold"/>
              </a:rPr>
              <a:t>Page 01</a:t>
            </a:r>
          </a:p>
        </p:txBody>
      </p:sp>
      <p:sp>
        <p:nvSpPr>
          <p:cNvPr id="8" name="TextBox 9"/>
          <p:cNvSpPr txBox="1"/>
          <p:nvPr/>
        </p:nvSpPr>
        <p:spPr>
          <a:xfrm>
            <a:off x="0" y="271338"/>
            <a:ext cx="18135600" cy="833562"/>
          </a:xfrm>
          <a:prstGeom prst="rect">
            <a:avLst/>
          </a:prstGeom>
        </p:spPr>
        <p:txBody>
          <a:bodyPr wrap="square" lIns="0" tIns="0" rIns="0" bIns="0" rtlCol="0" anchor="t">
            <a:spAutoFit/>
          </a:bodyPr>
          <a:lstStyle/>
          <a:p>
            <a:pPr algn="l">
              <a:lnSpc>
                <a:spcPts val="6480"/>
              </a:lnSpc>
            </a:pPr>
            <a:r>
              <a:rPr lang="en-US" sz="4800" dirty="0" smtClean="0">
                <a:solidFill>
                  <a:srgbClr val="FFFFFF"/>
                </a:solidFill>
                <a:latin typeface="Horizon"/>
                <a:ea typeface="Horizon"/>
                <a:cs typeface="Horizon"/>
                <a:sym typeface="Horizon"/>
              </a:rPr>
              <a:t>  </a:t>
            </a:r>
            <a:r>
              <a:rPr lang="en-US" sz="4800" dirty="0" err="1" smtClean="0">
                <a:solidFill>
                  <a:srgbClr val="FFFFFF"/>
                </a:solidFill>
                <a:latin typeface="Horizon"/>
                <a:ea typeface="Horizon"/>
                <a:cs typeface="Horizon"/>
                <a:sym typeface="Horizon"/>
              </a:rPr>
              <a:t>sql</a:t>
            </a:r>
            <a:r>
              <a:rPr lang="en-US" sz="4800" dirty="0" smtClean="0">
                <a:solidFill>
                  <a:srgbClr val="FFFFFF"/>
                </a:solidFill>
                <a:latin typeface="Horizon"/>
                <a:ea typeface="Horizon"/>
                <a:cs typeface="Horizon"/>
                <a:sym typeface="Horizon"/>
              </a:rPr>
              <a:t> Screenshot</a:t>
            </a:r>
            <a:endParaRPr lang="en-US" sz="4800" dirty="0">
              <a:solidFill>
                <a:srgbClr val="FFFFFF"/>
              </a:solidFill>
              <a:latin typeface="Horizon"/>
              <a:ea typeface="Horizon"/>
              <a:cs typeface="Horizon"/>
              <a:sym typeface="Horizo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1409700"/>
            <a:ext cx="17754600" cy="86106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535150" y="518815"/>
            <a:ext cx="3448050" cy="509885"/>
          </a:xfrm>
          <a:prstGeom prst="rect">
            <a:avLst/>
          </a:prstGeom>
        </p:spPr>
      </p:pic>
    </p:spTree>
    <p:extLst>
      <p:ext uri="{BB962C8B-B14F-4D97-AF65-F5344CB8AC3E}">
        <p14:creationId xmlns:p14="http://schemas.microsoft.com/office/powerpoint/2010/main" val="3454344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dirty="0">
                <a:solidFill>
                  <a:srgbClr val="000000"/>
                </a:solidFill>
                <a:latin typeface="TT Hoves Bold"/>
                <a:ea typeface="TT Hoves Bold"/>
                <a:cs typeface="TT Hoves Bold"/>
                <a:sym typeface="TT Hoves Bold"/>
              </a:rPr>
              <a:t>Page 01</a:t>
            </a:r>
          </a:p>
        </p:txBody>
      </p:sp>
      <p:sp>
        <p:nvSpPr>
          <p:cNvPr id="8" name="TextBox 9"/>
          <p:cNvSpPr txBox="1"/>
          <p:nvPr/>
        </p:nvSpPr>
        <p:spPr>
          <a:xfrm>
            <a:off x="76200" y="218826"/>
            <a:ext cx="18135600" cy="833562"/>
          </a:xfrm>
          <a:prstGeom prst="rect">
            <a:avLst/>
          </a:prstGeom>
        </p:spPr>
        <p:txBody>
          <a:bodyPr wrap="square" lIns="0" tIns="0" rIns="0" bIns="0" rtlCol="0" anchor="t">
            <a:spAutoFit/>
          </a:bodyPr>
          <a:lstStyle/>
          <a:p>
            <a:pPr algn="l">
              <a:lnSpc>
                <a:spcPts val="6480"/>
              </a:lnSpc>
            </a:pPr>
            <a:r>
              <a:rPr lang="en-US" sz="4800" dirty="0" smtClean="0">
                <a:solidFill>
                  <a:srgbClr val="FFFFFF"/>
                </a:solidFill>
                <a:latin typeface="Horizon"/>
                <a:ea typeface="Horizon"/>
                <a:cs typeface="Horizon"/>
                <a:sym typeface="Horizon"/>
              </a:rPr>
              <a:t>   </a:t>
            </a:r>
            <a:r>
              <a:rPr lang="en-US" sz="4800" dirty="0" err="1" smtClean="0">
                <a:solidFill>
                  <a:srgbClr val="FFFFFF"/>
                </a:solidFill>
                <a:latin typeface="Horizon"/>
                <a:ea typeface="Horizon"/>
                <a:cs typeface="Horizon"/>
                <a:sym typeface="Horizon"/>
              </a:rPr>
              <a:t>sql</a:t>
            </a:r>
            <a:r>
              <a:rPr lang="en-US" sz="4800" dirty="0" smtClean="0">
                <a:solidFill>
                  <a:srgbClr val="FFFFFF"/>
                </a:solidFill>
                <a:latin typeface="Horizon"/>
                <a:ea typeface="Horizon"/>
                <a:cs typeface="Horizon"/>
                <a:sym typeface="Horizon"/>
              </a:rPr>
              <a:t> Screenshot</a:t>
            </a:r>
            <a:endParaRPr lang="en-US" sz="4800" dirty="0">
              <a:solidFill>
                <a:srgbClr val="FFFFFF"/>
              </a:solidFill>
              <a:latin typeface="Horizon"/>
              <a:ea typeface="Horizon"/>
              <a:cs typeface="Horizon"/>
              <a:sym typeface="Horizon"/>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 y="1485901"/>
            <a:ext cx="17373600" cy="84582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344650" y="518815"/>
            <a:ext cx="3448050" cy="509885"/>
          </a:xfrm>
          <a:prstGeom prst="rect">
            <a:avLst/>
          </a:prstGeom>
        </p:spPr>
      </p:pic>
    </p:spTree>
    <p:extLst>
      <p:ext uri="{BB962C8B-B14F-4D97-AF65-F5344CB8AC3E}">
        <p14:creationId xmlns:p14="http://schemas.microsoft.com/office/powerpoint/2010/main" val="2695574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dirty="0">
                <a:solidFill>
                  <a:srgbClr val="000000"/>
                </a:solidFill>
                <a:latin typeface="TT Hoves Bold"/>
                <a:ea typeface="TT Hoves Bold"/>
                <a:cs typeface="TT Hoves Bold"/>
                <a:sym typeface="TT Hoves Bold"/>
              </a:rPr>
              <a:t>Page 01</a:t>
            </a:r>
          </a:p>
        </p:txBody>
      </p:sp>
      <p:sp>
        <p:nvSpPr>
          <p:cNvPr id="8" name="TextBox 9"/>
          <p:cNvSpPr txBox="1"/>
          <p:nvPr/>
        </p:nvSpPr>
        <p:spPr>
          <a:xfrm>
            <a:off x="76200" y="404926"/>
            <a:ext cx="18135600" cy="833562"/>
          </a:xfrm>
          <a:prstGeom prst="rect">
            <a:avLst/>
          </a:prstGeom>
        </p:spPr>
        <p:txBody>
          <a:bodyPr wrap="square" lIns="0" tIns="0" rIns="0" bIns="0" rtlCol="0" anchor="t">
            <a:spAutoFit/>
          </a:bodyPr>
          <a:lstStyle/>
          <a:p>
            <a:pPr algn="l">
              <a:lnSpc>
                <a:spcPts val="6480"/>
              </a:lnSpc>
            </a:pPr>
            <a:r>
              <a:rPr lang="en-US" sz="4800" dirty="0" smtClean="0">
                <a:solidFill>
                  <a:srgbClr val="FFFFFF"/>
                </a:solidFill>
                <a:latin typeface="Horizon"/>
                <a:ea typeface="Horizon"/>
                <a:cs typeface="Horizon"/>
                <a:sym typeface="Horizon"/>
              </a:rPr>
              <a:t>    </a:t>
            </a:r>
            <a:r>
              <a:rPr lang="en-US" sz="4800" dirty="0" err="1" smtClean="0">
                <a:solidFill>
                  <a:srgbClr val="FFFFFF"/>
                </a:solidFill>
                <a:latin typeface="Horizon"/>
                <a:ea typeface="Horizon"/>
                <a:cs typeface="Horizon"/>
                <a:sym typeface="Horizon"/>
              </a:rPr>
              <a:t>sql</a:t>
            </a:r>
            <a:r>
              <a:rPr lang="en-US" sz="4800" dirty="0" smtClean="0">
                <a:solidFill>
                  <a:srgbClr val="FFFFFF"/>
                </a:solidFill>
                <a:latin typeface="Horizon"/>
                <a:ea typeface="Horizon"/>
                <a:cs typeface="Horizon"/>
                <a:sym typeface="Horizon"/>
              </a:rPr>
              <a:t> Screenshot</a:t>
            </a:r>
            <a:endParaRPr lang="en-US" sz="4800" dirty="0">
              <a:solidFill>
                <a:srgbClr val="FFFFFF"/>
              </a:solidFill>
              <a:latin typeface="Horizon"/>
              <a:ea typeface="Horizon"/>
              <a:cs typeface="Horizon"/>
              <a:sym typeface="Horizon"/>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638300"/>
            <a:ext cx="17297400" cy="8077201"/>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420850" y="773757"/>
            <a:ext cx="3448050" cy="509885"/>
          </a:xfrm>
          <a:prstGeom prst="rect">
            <a:avLst/>
          </a:prstGeom>
        </p:spPr>
      </p:pic>
    </p:spTree>
    <p:extLst>
      <p:ext uri="{BB962C8B-B14F-4D97-AF65-F5344CB8AC3E}">
        <p14:creationId xmlns:p14="http://schemas.microsoft.com/office/powerpoint/2010/main" val="420031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4" name="TextBox 4"/>
          <p:cNvSpPr txBox="1"/>
          <p:nvPr/>
        </p:nvSpPr>
        <p:spPr>
          <a:xfrm>
            <a:off x="840205"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Home</a:t>
            </a:r>
          </a:p>
        </p:txBody>
      </p:sp>
      <p:sp>
        <p:nvSpPr>
          <p:cNvPr id="9" name="TextBox 9"/>
          <p:cNvSpPr txBox="1"/>
          <p:nvPr/>
        </p:nvSpPr>
        <p:spPr>
          <a:xfrm>
            <a:off x="15596750" y="614714"/>
            <a:ext cx="1662550" cy="413986"/>
          </a:xfrm>
          <a:prstGeom prst="rect">
            <a:avLst/>
          </a:prstGeom>
        </p:spPr>
        <p:txBody>
          <a:bodyPr lIns="0" tIns="0" rIns="0" bIns="0" rtlCol="0" anchor="t">
            <a:spAutoFit/>
          </a:bodyPr>
          <a:lstStyle/>
          <a:p>
            <a:pPr marL="0" lvl="0" indent="0" algn="ctr">
              <a:lnSpc>
                <a:spcPts val="3431"/>
              </a:lnSpc>
              <a:spcBef>
                <a:spcPct val="0"/>
              </a:spcBef>
            </a:pPr>
            <a:r>
              <a:rPr lang="en-US" sz="2451" b="1">
                <a:solidFill>
                  <a:srgbClr val="000000"/>
                </a:solidFill>
                <a:latin typeface="TT Hoves Bold"/>
                <a:ea typeface="TT Hoves Bold"/>
                <a:cs typeface="TT Hoves Bold"/>
                <a:sym typeface="TT Hoves Bold"/>
              </a:rPr>
              <a:t>Page 01</a:t>
            </a:r>
          </a:p>
        </p:txBody>
      </p:sp>
      <p:sp>
        <p:nvSpPr>
          <p:cNvPr id="8" name="TextBox 9"/>
          <p:cNvSpPr txBox="1"/>
          <p:nvPr/>
        </p:nvSpPr>
        <p:spPr>
          <a:xfrm>
            <a:off x="877324" y="333126"/>
            <a:ext cx="16616520" cy="833562"/>
          </a:xfrm>
          <a:prstGeom prst="rect">
            <a:avLst/>
          </a:prstGeom>
        </p:spPr>
        <p:txBody>
          <a:bodyPr wrap="square" lIns="0" tIns="0" rIns="0" bIns="0" rtlCol="0" anchor="t">
            <a:spAutoFit/>
          </a:bodyPr>
          <a:lstStyle/>
          <a:p>
            <a:pPr algn="l">
              <a:lnSpc>
                <a:spcPts val="6480"/>
              </a:lnSpc>
            </a:pPr>
            <a:r>
              <a:rPr lang="en-US" sz="4800" dirty="0" smtClean="0">
                <a:solidFill>
                  <a:srgbClr val="FFFFFF"/>
                </a:solidFill>
                <a:latin typeface="Horizon"/>
                <a:ea typeface="Horizon"/>
                <a:cs typeface="Horizon"/>
                <a:sym typeface="Horizon"/>
              </a:rPr>
              <a:t>Key takeaways</a:t>
            </a:r>
            <a:endParaRPr lang="en-US" sz="4800" dirty="0">
              <a:solidFill>
                <a:srgbClr val="FFFFFF"/>
              </a:solidFill>
              <a:latin typeface="Horizon"/>
              <a:ea typeface="Horizon"/>
              <a:cs typeface="Horizon"/>
              <a:sym typeface="Horizon"/>
            </a:endParaRPr>
          </a:p>
        </p:txBody>
      </p:sp>
      <p:sp>
        <p:nvSpPr>
          <p:cNvPr id="11" name="TextBox 6"/>
          <p:cNvSpPr txBox="1"/>
          <p:nvPr/>
        </p:nvSpPr>
        <p:spPr>
          <a:xfrm>
            <a:off x="1078340" y="2518249"/>
            <a:ext cx="7592831" cy="1200329"/>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SUM(Manufactured Qty)</a:t>
            </a:r>
          </a:p>
          <a:p>
            <a:r>
              <a:rPr lang="en-US" dirty="0"/>
              <a:t/>
            </a:r>
            <a:br>
              <a:rPr lang="en-US" dirty="0"/>
            </a:br>
            <a:r>
              <a:rPr lang="en-US" dirty="0"/>
              <a:t/>
            </a:r>
            <a:br>
              <a:rPr lang="en-US" dirty="0"/>
            </a:br>
            <a:endParaRPr lang="en-US" dirty="0"/>
          </a:p>
        </p:txBody>
      </p:sp>
      <p:sp>
        <p:nvSpPr>
          <p:cNvPr id="12" name="TextBox 8"/>
          <p:cNvSpPr txBox="1"/>
          <p:nvPr/>
        </p:nvSpPr>
        <p:spPr>
          <a:xfrm>
            <a:off x="953978" y="4998113"/>
            <a:ext cx="6548096"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      Rejected Quantity</a:t>
            </a:r>
            <a:endParaRPr lang="en-US" dirty="0">
              <a:solidFill>
                <a:schemeClr val="lt1"/>
              </a:solidFill>
            </a:endParaRPr>
          </a:p>
          <a:p>
            <a:r>
              <a:rPr lang="en-US" dirty="0"/>
              <a:t>       SUM(Rejected Qty)</a:t>
            </a:r>
          </a:p>
          <a:p>
            <a:r>
              <a:rPr lang="en-US" dirty="0"/>
              <a:t> </a:t>
            </a:r>
          </a:p>
        </p:txBody>
      </p:sp>
      <p:sp>
        <p:nvSpPr>
          <p:cNvPr id="18" name="TextBox 25"/>
          <p:cNvSpPr txBox="1"/>
          <p:nvPr/>
        </p:nvSpPr>
        <p:spPr>
          <a:xfrm>
            <a:off x="6498449" y="4919018"/>
            <a:ext cx="6171661" cy="92333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dirty="0"/>
              <a:t>Wastage Quantity</a:t>
            </a:r>
            <a:endParaRPr lang="en-US" dirty="0">
              <a:solidFill>
                <a:schemeClr val="lt1"/>
              </a:solidFill>
            </a:endParaRPr>
          </a:p>
          <a:p>
            <a:r>
              <a:rPr lang="en-US" dirty="0"/>
              <a:t>SUM(R Qty/Sum(P Qty)</a:t>
            </a:r>
          </a:p>
          <a:p>
            <a:endParaRPr lang="en-US" dirty="0"/>
          </a:p>
        </p:txBody>
      </p:sp>
      <p:sp>
        <p:nvSpPr>
          <p:cNvPr id="26" name="Rounded Rectangle 25"/>
          <p:cNvSpPr/>
          <p:nvPr/>
        </p:nvSpPr>
        <p:spPr>
          <a:xfrm>
            <a:off x="339274" y="1485900"/>
            <a:ext cx="8763000" cy="7950268"/>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IN"/>
          </a:p>
        </p:txBody>
      </p:sp>
      <p:sp>
        <p:nvSpPr>
          <p:cNvPr id="22" name="Content Placeholder 2"/>
          <p:cNvSpPr>
            <a:spLocks noGrp="1"/>
          </p:cNvSpPr>
          <p:nvPr/>
        </p:nvSpPr>
        <p:spPr>
          <a:xfrm>
            <a:off x="840205" y="2264140"/>
            <a:ext cx="7767701" cy="639378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200" dirty="0">
                <a:latin typeface="Arial" pitchFamily="34" charset="0"/>
                <a:cs typeface="Arial" pitchFamily="34" charset="0"/>
              </a:rPr>
              <a:t>1. Strong Production Efficiency</a:t>
            </a:r>
          </a:p>
          <a:p>
            <a:pPr lvl="0"/>
            <a:r>
              <a:rPr lang="en-US" sz="2200" dirty="0">
                <a:latin typeface="Arial" pitchFamily="34" charset="0"/>
                <a:cs typeface="Arial" pitchFamily="34" charset="0"/>
              </a:rPr>
              <a:t>Total Production (60.04M) is closely aligned with Total Processed (60.01M) </a:t>
            </a:r>
          </a:p>
          <a:p>
            <a:pPr lvl="0"/>
            <a:r>
              <a:rPr lang="en-US" sz="2200" dirty="0">
                <a:latin typeface="Arial" pitchFamily="34" charset="0"/>
                <a:cs typeface="Arial" pitchFamily="34" charset="0"/>
              </a:rPr>
              <a:t>Indicates minimal process bottlenecks and high throughput efficiency </a:t>
            </a:r>
          </a:p>
          <a:p>
            <a:r>
              <a:rPr lang="en-US" sz="2200" dirty="0">
                <a:latin typeface="Arial" pitchFamily="34" charset="0"/>
                <a:cs typeface="Arial" pitchFamily="34" charset="0"/>
              </a:rPr>
              <a:t>2. Low Overall Rejection Rate</a:t>
            </a:r>
          </a:p>
          <a:p>
            <a:pPr lvl="0"/>
            <a:r>
              <a:rPr lang="en-US" sz="2200" dirty="0">
                <a:latin typeface="Arial" pitchFamily="34" charset="0"/>
                <a:cs typeface="Arial" pitchFamily="34" charset="0"/>
              </a:rPr>
              <a:t>Rejection % at ~0.82% reflects strong quality control systems </a:t>
            </a:r>
          </a:p>
          <a:p>
            <a:pPr lvl="0"/>
            <a:r>
              <a:rPr lang="en-US" sz="2200" dirty="0">
                <a:latin typeface="Arial" pitchFamily="34" charset="0"/>
                <a:cs typeface="Arial" pitchFamily="34" charset="0"/>
              </a:rPr>
              <a:t>Majority (~99.2%) of production meets quality standards </a:t>
            </a:r>
          </a:p>
          <a:p>
            <a:r>
              <a:rPr lang="en-US" sz="2200" dirty="0">
                <a:latin typeface="Arial" pitchFamily="34" charset="0"/>
                <a:cs typeface="Arial" pitchFamily="34" charset="0"/>
              </a:rPr>
              <a:t>3. Wastage Under Control but Not Negligible</a:t>
            </a:r>
          </a:p>
          <a:p>
            <a:pPr lvl="0"/>
            <a:r>
              <a:rPr lang="en-US" sz="2200" dirty="0">
                <a:latin typeface="Arial" pitchFamily="34" charset="0"/>
                <a:cs typeface="Arial" pitchFamily="34" charset="0"/>
              </a:rPr>
              <a:t>Wastage at 28.83K units is relatively low </a:t>
            </a:r>
            <a:r>
              <a:rPr lang="en-US" sz="2200" dirty="0" err="1">
                <a:latin typeface="Arial" pitchFamily="34" charset="0"/>
                <a:cs typeface="Arial" pitchFamily="34" charset="0"/>
              </a:rPr>
              <a:t>vs</a:t>
            </a:r>
            <a:r>
              <a:rPr lang="en-US" sz="2200" dirty="0">
                <a:latin typeface="Arial" pitchFamily="34" charset="0"/>
                <a:cs typeface="Arial" pitchFamily="34" charset="0"/>
              </a:rPr>
              <a:t> total volume </a:t>
            </a:r>
          </a:p>
          <a:p>
            <a:pPr lvl="0"/>
            <a:r>
              <a:rPr lang="en-US" sz="2200" dirty="0">
                <a:latin typeface="Arial" pitchFamily="34" charset="0"/>
                <a:cs typeface="Arial" pitchFamily="34" charset="0"/>
              </a:rPr>
              <a:t>However, even small % losses at scale = significant cost impact </a:t>
            </a:r>
          </a:p>
          <a:p>
            <a:r>
              <a:rPr lang="en-US" sz="2200" dirty="0">
                <a:latin typeface="Arial" pitchFamily="34" charset="0"/>
                <a:cs typeface="Arial" pitchFamily="34" charset="0"/>
              </a:rPr>
              <a:t>4. Stable Production Trend with Minor Fluctuations</a:t>
            </a:r>
          </a:p>
          <a:p>
            <a:pPr lvl="0"/>
            <a:r>
              <a:rPr lang="en-US" sz="2200" dirty="0">
                <a:latin typeface="Arial" pitchFamily="34" charset="0"/>
                <a:cs typeface="Arial" pitchFamily="34" charset="0"/>
              </a:rPr>
              <a:t>Production trend shows consistent output (~5M/month range) </a:t>
            </a:r>
          </a:p>
          <a:p>
            <a:pPr lvl="0"/>
            <a:r>
              <a:rPr lang="en-US" sz="2200" dirty="0">
                <a:latin typeface="Arial" pitchFamily="34" charset="0"/>
                <a:cs typeface="Arial" pitchFamily="34" charset="0"/>
              </a:rPr>
              <a:t>Slight dips indicate possible seasonal or operational inefficiencies </a:t>
            </a:r>
          </a:p>
        </p:txBody>
      </p:sp>
      <p:sp>
        <p:nvSpPr>
          <p:cNvPr id="15" name="Rounded Rectangle 14"/>
          <p:cNvSpPr/>
          <p:nvPr/>
        </p:nvSpPr>
        <p:spPr>
          <a:xfrm>
            <a:off x="9220200" y="1485900"/>
            <a:ext cx="8915400" cy="7896767"/>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r>
              <a:rPr lang="en-US" sz="2200" dirty="0">
                <a:latin typeface="Arial" pitchFamily="34" charset="0"/>
                <a:cs typeface="Arial" pitchFamily="34" charset="0"/>
              </a:rPr>
              <a:t>5. Employee-Level Rejections Show Performance Gap</a:t>
            </a:r>
          </a:p>
          <a:p>
            <a:pPr lvl="0"/>
            <a:r>
              <a:rPr lang="en-US" sz="2200" dirty="0" smtClean="0">
                <a:solidFill>
                  <a:schemeClr val="tx1"/>
                </a:solidFill>
                <a:latin typeface="Arial" pitchFamily="34" charset="0"/>
                <a:cs typeface="Arial" pitchFamily="34" charset="0"/>
              </a:rPr>
              <a:t>Top </a:t>
            </a:r>
            <a:r>
              <a:rPr lang="en-US" sz="2200" dirty="0">
                <a:solidFill>
                  <a:schemeClr val="tx1"/>
                </a:solidFill>
                <a:latin typeface="Arial" pitchFamily="34" charset="0"/>
                <a:cs typeface="Arial" pitchFamily="34" charset="0"/>
              </a:rPr>
              <a:t>reject contributors: </a:t>
            </a:r>
          </a:p>
          <a:p>
            <a:pPr lvl="1"/>
            <a:r>
              <a:rPr lang="en-US" sz="2200" dirty="0" err="1">
                <a:solidFill>
                  <a:schemeClr val="tx1"/>
                </a:solidFill>
                <a:latin typeface="Arial" pitchFamily="34" charset="0"/>
                <a:cs typeface="Arial" pitchFamily="34" charset="0"/>
              </a:rPr>
              <a:t>Shruti</a:t>
            </a:r>
            <a:r>
              <a:rPr lang="en-US" sz="2200" dirty="0">
                <a:solidFill>
                  <a:schemeClr val="tx1"/>
                </a:solidFill>
                <a:latin typeface="Arial" pitchFamily="34" charset="0"/>
                <a:cs typeface="Arial" pitchFamily="34" charset="0"/>
              </a:rPr>
              <a:t> Singh (~127K) </a:t>
            </a:r>
          </a:p>
          <a:p>
            <a:pPr lvl="1"/>
            <a:r>
              <a:rPr lang="en-US" sz="2200" dirty="0" err="1">
                <a:solidFill>
                  <a:schemeClr val="tx1"/>
                </a:solidFill>
                <a:latin typeface="Arial" pitchFamily="34" charset="0"/>
                <a:cs typeface="Arial" pitchFamily="34" charset="0"/>
              </a:rPr>
              <a:t>Pooja</a:t>
            </a:r>
            <a:r>
              <a:rPr lang="en-US" sz="2200" dirty="0">
                <a:solidFill>
                  <a:schemeClr val="tx1"/>
                </a:solidFill>
                <a:latin typeface="Arial" pitchFamily="34" charset="0"/>
                <a:cs typeface="Arial" pitchFamily="34" charset="0"/>
              </a:rPr>
              <a:t> Patel (~123K) </a:t>
            </a:r>
          </a:p>
          <a:p>
            <a:pPr lvl="0"/>
            <a:r>
              <a:rPr lang="en-US" sz="2200" dirty="0">
                <a:solidFill>
                  <a:schemeClr val="tx1"/>
                </a:solidFill>
                <a:latin typeface="Arial" pitchFamily="34" charset="0"/>
                <a:cs typeface="Arial" pitchFamily="34" charset="0"/>
              </a:rPr>
              <a:t>Indicates skill gap / training opportunity / process adherence issues </a:t>
            </a:r>
          </a:p>
          <a:p>
            <a:r>
              <a:rPr lang="en-US" sz="2200" dirty="0">
                <a:solidFill>
                  <a:schemeClr val="tx1"/>
                </a:solidFill>
                <a:latin typeface="Arial" pitchFamily="34" charset="0"/>
                <a:cs typeface="Arial" pitchFamily="34" charset="0"/>
              </a:rPr>
              <a:t>6. Machine-Specific Quality Issues</a:t>
            </a:r>
          </a:p>
          <a:p>
            <a:pPr lvl="0"/>
            <a:r>
              <a:rPr lang="en-US" sz="2200" dirty="0">
                <a:solidFill>
                  <a:schemeClr val="tx1"/>
                </a:solidFill>
                <a:latin typeface="Arial" pitchFamily="34" charset="0"/>
                <a:cs typeface="Arial" pitchFamily="34" charset="0"/>
              </a:rPr>
              <a:t>Machines like MC027 &amp; MC026 contribute highest rejections </a:t>
            </a:r>
          </a:p>
          <a:p>
            <a:pPr lvl="0"/>
            <a:r>
              <a:rPr lang="en-US" sz="2200" dirty="0">
                <a:solidFill>
                  <a:schemeClr val="tx1"/>
                </a:solidFill>
                <a:latin typeface="Arial" pitchFamily="34" charset="0"/>
                <a:cs typeface="Arial" pitchFamily="34" charset="0"/>
              </a:rPr>
              <a:t>Suggests: </a:t>
            </a:r>
          </a:p>
          <a:p>
            <a:pPr lvl="1"/>
            <a:r>
              <a:rPr lang="en-US" sz="2200" dirty="0">
                <a:solidFill>
                  <a:schemeClr val="tx1"/>
                </a:solidFill>
                <a:latin typeface="Arial" pitchFamily="34" charset="0"/>
                <a:cs typeface="Arial" pitchFamily="34" charset="0"/>
              </a:rPr>
              <a:t>Maintenance issues </a:t>
            </a:r>
          </a:p>
          <a:p>
            <a:pPr lvl="1"/>
            <a:r>
              <a:rPr lang="en-US" sz="2200" dirty="0">
                <a:solidFill>
                  <a:schemeClr val="tx1"/>
                </a:solidFill>
                <a:latin typeface="Arial" pitchFamily="34" charset="0"/>
                <a:cs typeface="Arial" pitchFamily="34" charset="0"/>
              </a:rPr>
              <a:t>Calibration problems </a:t>
            </a:r>
          </a:p>
          <a:p>
            <a:pPr lvl="0"/>
            <a:r>
              <a:rPr lang="en-US" sz="2200" dirty="0">
                <a:solidFill>
                  <a:schemeClr val="tx1"/>
                </a:solidFill>
                <a:latin typeface="Arial" pitchFamily="34" charset="0"/>
                <a:cs typeface="Arial" pitchFamily="34" charset="0"/>
              </a:rPr>
              <a:t>Opportunity for predictive maintenance </a:t>
            </a:r>
          </a:p>
          <a:p>
            <a:r>
              <a:rPr lang="en-US" sz="2200" dirty="0">
                <a:solidFill>
                  <a:schemeClr val="tx1"/>
                </a:solidFill>
                <a:latin typeface="Arial" pitchFamily="34" charset="0"/>
                <a:cs typeface="Arial" pitchFamily="34" charset="0"/>
              </a:rPr>
              <a:t>7. Department Performance is Consistent but Not Optimized</a:t>
            </a:r>
          </a:p>
          <a:p>
            <a:pPr lvl="0"/>
            <a:r>
              <a:rPr lang="en-US" sz="2200" dirty="0">
                <a:solidFill>
                  <a:schemeClr val="tx1"/>
                </a:solidFill>
                <a:latin typeface="Arial" pitchFamily="34" charset="0"/>
                <a:cs typeface="Arial" pitchFamily="34" charset="0"/>
              </a:rPr>
              <a:t>All departments operating at ~99% efficiency </a:t>
            </a:r>
          </a:p>
          <a:p>
            <a:pPr lvl="0"/>
            <a:r>
              <a:rPr lang="en-US" sz="2200" dirty="0">
                <a:solidFill>
                  <a:schemeClr val="tx1"/>
                </a:solidFill>
                <a:latin typeface="Arial" pitchFamily="34" charset="0"/>
                <a:cs typeface="Arial" pitchFamily="34" charset="0"/>
              </a:rPr>
              <a:t>However, near-identical performance suggests: </a:t>
            </a:r>
          </a:p>
          <a:p>
            <a:pPr lvl="1"/>
            <a:r>
              <a:rPr lang="en-US" sz="2200" dirty="0">
                <a:solidFill>
                  <a:schemeClr val="tx1"/>
                </a:solidFill>
                <a:latin typeface="Arial" pitchFamily="34" charset="0"/>
                <a:cs typeface="Arial" pitchFamily="34" charset="0"/>
              </a:rPr>
              <a:t>Lack of differentiation in process optimization </a:t>
            </a:r>
          </a:p>
          <a:p>
            <a:pPr lvl="1"/>
            <a:r>
              <a:rPr lang="en-US" sz="2200" dirty="0">
                <a:solidFill>
                  <a:schemeClr val="tx1"/>
                </a:solidFill>
                <a:latin typeface="Arial" pitchFamily="34" charset="0"/>
                <a:cs typeface="Arial" pitchFamily="34" charset="0"/>
              </a:rPr>
              <a:t>Scope for benchmarking best-performing units </a:t>
            </a:r>
          </a:p>
          <a:p>
            <a:r>
              <a:rPr lang="en-US" sz="2200" dirty="0">
                <a:solidFill>
                  <a:schemeClr val="tx1"/>
                </a:solidFill>
                <a:latin typeface="Arial" pitchFamily="34" charset="0"/>
                <a:cs typeface="Arial" pitchFamily="34" charset="0"/>
              </a:rPr>
              <a:t>8. Rejection </a:t>
            </a:r>
            <a:r>
              <a:rPr lang="en-US" sz="2200" dirty="0" err="1">
                <a:solidFill>
                  <a:schemeClr val="tx1"/>
                </a:solidFill>
                <a:latin typeface="Arial" pitchFamily="34" charset="0"/>
                <a:cs typeface="Arial" pitchFamily="34" charset="0"/>
              </a:rPr>
              <a:t>vs</a:t>
            </a:r>
            <a:r>
              <a:rPr lang="en-US" sz="2200" dirty="0">
                <a:solidFill>
                  <a:schemeClr val="tx1"/>
                </a:solidFill>
                <a:latin typeface="Arial" pitchFamily="34" charset="0"/>
                <a:cs typeface="Arial" pitchFamily="34" charset="0"/>
              </a:rPr>
              <a:t> Production Gap Still Scalable</a:t>
            </a:r>
          </a:p>
          <a:p>
            <a:pPr lvl="0"/>
            <a:r>
              <a:rPr lang="en-US" sz="2200" dirty="0">
                <a:solidFill>
                  <a:schemeClr val="tx1"/>
                </a:solidFill>
                <a:latin typeface="Arial" pitchFamily="34" charset="0"/>
                <a:cs typeface="Arial" pitchFamily="34" charset="0"/>
              </a:rPr>
              <a:t>Even at &lt;1% rejection: </a:t>
            </a:r>
          </a:p>
          <a:p>
            <a:pPr lvl="1"/>
            <a:r>
              <a:rPr lang="en-US" sz="2200" dirty="0">
                <a:solidFill>
                  <a:schemeClr val="tx1"/>
                </a:solidFill>
                <a:latin typeface="Arial" pitchFamily="34" charset="0"/>
                <a:cs typeface="Arial" pitchFamily="34" charset="0"/>
              </a:rPr>
              <a:t>Absolute rejected volume = ~491K units </a:t>
            </a:r>
          </a:p>
          <a:p>
            <a:pPr lvl="0"/>
            <a:r>
              <a:rPr lang="en-US" sz="2200" dirty="0">
                <a:solidFill>
                  <a:schemeClr val="tx1"/>
                </a:solidFill>
                <a:latin typeface="Arial" pitchFamily="34" charset="0"/>
                <a:cs typeface="Arial" pitchFamily="34" charset="0"/>
              </a:rPr>
              <a:t>Small improvements → large financial gains </a:t>
            </a:r>
          </a:p>
        </p:txBody>
      </p:sp>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535150" y="518815"/>
            <a:ext cx="3448050" cy="509885"/>
          </a:xfrm>
          <a:prstGeom prst="rect">
            <a:avLst/>
          </a:prstGeom>
        </p:spPr>
      </p:pic>
    </p:spTree>
    <p:extLst>
      <p:ext uri="{BB962C8B-B14F-4D97-AF65-F5344CB8AC3E}">
        <p14:creationId xmlns:p14="http://schemas.microsoft.com/office/powerpoint/2010/main" val="21968771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Rectangle 2"/>
          <p:cNvSpPr/>
          <p:nvPr/>
        </p:nvSpPr>
        <p:spPr>
          <a:xfrm>
            <a:off x="4343400" y="4681835"/>
            <a:ext cx="8686800" cy="1569660"/>
          </a:xfrm>
          <a:prstGeom prst="rect">
            <a:avLst/>
          </a:prstGeom>
          <a:noFill/>
        </p:spPr>
        <p:txBody>
          <a:bodyPr wrap="square" lIns="91440" tIns="45720" rIns="91440" bIns="45720">
            <a:spAutoFit/>
          </a:bodyPr>
          <a:lstStyle/>
          <a:p>
            <a:pPr algn="ctr"/>
            <a:r>
              <a:rPr lang="en-US" sz="9600" b="1" cap="none" spc="0"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rPr>
              <a:t>THANK YOU!</a:t>
            </a:r>
            <a:endParaRPr lang="en-US" sz="9600" b="1" cap="none" spc="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TotalTime>
  <Words>1295</Words>
  <Application>Microsoft Office PowerPoint</Application>
  <PresentationFormat>Custom</PresentationFormat>
  <Paragraphs>192</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TT Hoves</vt:lpstr>
      <vt:lpstr>TT Hoves Bold</vt:lpstr>
      <vt:lpstr>Horizon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20</cp:revision>
  <dcterms:created xsi:type="dcterms:W3CDTF">2006-08-16T00:00:00Z</dcterms:created>
  <dcterms:modified xsi:type="dcterms:W3CDTF">2026-05-05T15:03:50Z</dcterms:modified>
  <dc:identifier>DAHIuRBjcAI</dc:identifier>
</cp:coreProperties>
</file>